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8" r:id="rId3"/>
    <p:sldId id="285" r:id="rId4"/>
    <p:sldId id="286" r:id="rId5"/>
    <p:sldId id="274" r:id="rId6"/>
    <p:sldId id="277" r:id="rId7"/>
    <p:sldId id="279" r:id="rId8"/>
    <p:sldId id="287" r:id="rId9"/>
    <p:sldId id="28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2" d="100"/>
          <a:sy n="102" d="100"/>
        </p:scale>
        <p:origin x="954" y="6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798AB-B1BC-E90C-4370-B0BCF0A2C2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32B18BF-4848-A945-6FB7-3E8A978978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5D4D337-DD6A-F624-4E25-3A39265CBD50}"/>
              </a:ext>
            </a:extLst>
          </p:cNvPr>
          <p:cNvSpPr>
            <a:spLocks noGrp="1"/>
          </p:cNvSpPr>
          <p:nvPr>
            <p:ph type="dt" sz="half" idx="10"/>
          </p:nvPr>
        </p:nvSpPr>
        <p:spPr/>
        <p:txBody>
          <a:bodyPr/>
          <a:lstStyle/>
          <a:p>
            <a:fld id="{48FB05D6-821A-4ECB-9351-01BB7FA45945}" type="datetimeFigureOut">
              <a:rPr lang="en-IN" smtClean="0"/>
              <a:t>06-05-2026</a:t>
            </a:fld>
            <a:endParaRPr lang="en-IN"/>
          </a:p>
        </p:txBody>
      </p:sp>
      <p:sp>
        <p:nvSpPr>
          <p:cNvPr id="5" name="Footer Placeholder 4">
            <a:extLst>
              <a:ext uri="{FF2B5EF4-FFF2-40B4-BE49-F238E27FC236}">
                <a16:creationId xmlns:a16="http://schemas.microsoft.com/office/drawing/2014/main" id="{E0781157-3955-B572-D51D-170D6387EE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7B3F3F-5E24-A533-270F-F349078C4F2B}"/>
              </a:ext>
            </a:extLst>
          </p:cNvPr>
          <p:cNvSpPr>
            <a:spLocks noGrp="1"/>
          </p:cNvSpPr>
          <p:nvPr>
            <p:ph type="sldNum" sz="quarter" idx="12"/>
          </p:nvPr>
        </p:nvSpPr>
        <p:spPr/>
        <p:txBody>
          <a:bodyPr/>
          <a:lstStyle/>
          <a:p>
            <a:fld id="{C794F1ED-C4B2-4CAD-96C6-93BFC97CC8F3}" type="slidenum">
              <a:rPr lang="en-IN" smtClean="0"/>
              <a:t>‹#›</a:t>
            </a:fld>
            <a:endParaRPr lang="en-IN"/>
          </a:p>
        </p:txBody>
      </p:sp>
    </p:spTree>
    <p:extLst>
      <p:ext uri="{BB962C8B-B14F-4D97-AF65-F5344CB8AC3E}">
        <p14:creationId xmlns:p14="http://schemas.microsoft.com/office/powerpoint/2010/main" val="2072897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5E17B-EA6C-7B74-CA3C-FDB639668F9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A07117-8660-6711-79C5-5F6077640B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F74890-634F-1FAA-112F-3911BA49CB47}"/>
              </a:ext>
            </a:extLst>
          </p:cNvPr>
          <p:cNvSpPr>
            <a:spLocks noGrp="1"/>
          </p:cNvSpPr>
          <p:nvPr>
            <p:ph type="dt" sz="half" idx="10"/>
          </p:nvPr>
        </p:nvSpPr>
        <p:spPr/>
        <p:txBody>
          <a:bodyPr/>
          <a:lstStyle/>
          <a:p>
            <a:fld id="{48FB05D6-821A-4ECB-9351-01BB7FA45945}" type="datetimeFigureOut">
              <a:rPr lang="en-IN" smtClean="0"/>
              <a:t>06-05-2026</a:t>
            </a:fld>
            <a:endParaRPr lang="en-IN"/>
          </a:p>
        </p:txBody>
      </p:sp>
      <p:sp>
        <p:nvSpPr>
          <p:cNvPr id="5" name="Footer Placeholder 4">
            <a:extLst>
              <a:ext uri="{FF2B5EF4-FFF2-40B4-BE49-F238E27FC236}">
                <a16:creationId xmlns:a16="http://schemas.microsoft.com/office/drawing/2014/main" id="{E4E8E779-1DE3-CEB9-4513-587FBF997D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5EE073-02F6-B525-872A-0EA4E71D1D83}"/>
              </a:ext>
            </a:extLst>
          </p:cNvPr>
          <p:cNvSpPr>
            <a:spLocks noGrp="1"/>
          </p:cNvSpPr>
          <p:nvPr>
            <p:ph type="sldNum" sz="quarter" idx="12"/>
          </p:nvPr>
        </p:nvSpPr>
        <p:spPr/>
        <p:txBody>
          <a:bodyPr/>
          <a:lstStyle/>
          <a:p>
            <a:fld id="{C794F1ED-C4B2-4CAD-96C6-93BFC97CC8F3}" type="slidenum">
              <a:rPr lang="en-IN" smtClean="0"/>
              <a:t>‹#›</a:t>
            </a:fld>
            <a:endParaRPr lang="en-IN"/>
          </a:p>
        </p:txBody>
      </p:sp>
    </p:spTree>
    <p:extLst>
      <p:ext uri="{BB962C8B-B14F-4D97-AF65-F5344CB8AC3E}">
        <p14:creationId xmlns:p14="http://schemas.microsoft.com/office/powerpoint/2010/main" val="39215959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676EF-288C-7C10-4F34-5C4ED744CD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F8DDD88-3DB7-BF71-D745-97A500F83F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F12C8B-109A-51A3-C812-19A2AB591DFC}"/>
              </a:ext>
            </a:extLst>
          </p:cNvPr>
          <p:cNvSpPr>
            <a:spLocks noGrp="1"/>
          </p:cNvSpPr>
          <p:nvPr>
            <p:ph type="dt" sz="half" idx="10"/>
          </p:nvPr>
        </p:nvSpPr>
        <p:spPr/>
        <p:txBody>
          <a:bodyPr/>
          <a:lstStyle/>
          <a:p>
            <a:fld id="{48FB05D6-821A-4ECB-9351-01BB7FA45945}" type="datetimeFigureOut">
              <a:rPr lang="en-IN" smtClean="0"/>
              <a:t>06-05-2026</a:t>
            </a:fld>
            <a:endParaRPr lang="en-IN"/>
          </a:p>
        </p:txBody>
      </p:sp>
      <p:sp>
        <p:nvSpPr>
          <p:cNvPr id="5" name="Footer Placeholder 4">
            <a:extLst>
              <a:ext uri="{FF2B5EF4-FFF2-40B4-BE49-F238E27FC236}">
                <a16:creationId xmlns:a16="http://schemas.microsoft.com/office/drawing/2014/main" id="{248B42BC-477F-C1A5-F289-272605EA2B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D66293C-E630-8470-3351-41ABFEC375CE}"/>
              </a:ext>
            </a:extLst>
          </p:cNvPr>
          <p:cNvSpPr>
            <a:spLocks noGrp="1"/>
          </p:cNvSpPr>
          <p:nvPr>
            <p:ph type="sldNum" sz="quarter" idx="12"/>
          </p:nvPr>
        </p:nvSpPr>
        <p:spPr/>
        <p:txBody>
          <a:bodyPr/>
          <a:lstStyle/>
          <a:p>
            <a:fld id="{C794F1ED-C4B2-4CAD-96C6-93BFC97CC8F3}" type="slidenum">
              <a:rPr lang="en-IN" smtClean="0"/>
              <a:t>‹#›</a:t>
            </a:fld>
            <a:endParaRPr lang="en-IN"/>
          </a:p>
        </p:txBody>
      </p:sp>
    </p:spTree>
    <p:extLst>
      <p:ext uri="{BB962C8B-B14F-4D97-AF65-F5344CB8AC3E}">
        <p14:creationId xmlns:p14="http://schemas.microsoft.com/office/powerpoint/2010/main" val="2650233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A4369-76E2-9407-CCDD-2B3F0A17D88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C4E76E9-29C6-9C6E-AA61-E9A2D9FEF6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2DD314C-143F-BD02-260F-AFA05A596C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C83260A-03E3-F919-F293-E7DA2B01DEC3}"/>
              </a:ext>
            </a:extLst>
          </p:cNvPr>
          <p:cNvSpPr>
            <a:spLocks noGrp="1"/>
          </p:cNvSpPr>
          <p:nvPr>
            <p:ph type="dt" sz="half" idx="10"/>
          </p:nvPr>
        </p:nvSpPr>
        <p:spPr/>
        <p:txBody>
          <a:bodyPr/>
          <a:lstStyle/>
          <a:p>
            <a:fld id="{48FB05D6-821A-4ECB-9351-01BB7FA45945}" type="datetimeFigureOut">
              <a:rPr lang="en-IN" smtClean="0"/>
              <a:t>06-05-2026</a:t>
            </a:fld>
            <a:endParaRPr lang="en-IN"/>
          </a:p>
        </p:txBody>
      </p:sp>
      <p:sp>
        <p:nvSpPr>
          <p:cNvPr id="6" name="Footer Placeholder 5">
            <a:extLst>
              <a:ext uri="{FF2B5EF4-FFF2-40B4-BE49-F238E27FC236}">
                <a16:creationId xmlns:a16="http://schemas.microsoft.com/office/drawing/2014/main" id="{08F31D0A-EB03-F34D-CFAC-CFCF128CADC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C8FD6D-4F65-0939-A4D7-AD8728706C98}"/>
              </a:ext>
            </a:extLst>
          </p:cNvPr>
          <p:cNvSpPr>
            <a:spLocks noGrp="1"/>
          </p:cNvSpPr>
          <p:nvPr>
            <p:ph type="sldNum" sz="quarter" idx="12"/>
          </p:nvPr>
        </p:nvSpPr>
        <p:spPr/>
        <p:txBody>
          <a:bodyPr/>
          <a:lstStyle/>
          <a:p>
            <a:fld id="{C794F1ED-C4B2-4CAD-96C6-93BFC97CC8F3}" type="slidenum">
              <a:rPr lang="en-IN" smtClean="0"/>
              <a:t>‹#›</a:t>
            </a:fld>
            <a:endParaRPr lang="en-IN"/>
          </a:p>
        </p:txBody>
      </p:sp>
    </p:spTree>
    <p:extLst>
      <p:ext uri="{BB962C8B-B14F-4D97-AF65-F5344CB8AC3E}">
        <p14:creationId xmlns:p14="http://schemas.microsoft.com/office/powerpoint/2010/main" val="442936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FF48B-075F-0466-B2AF-84059523562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B4F40E5-AA30-DE21-F742-515412C15B6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438FE5-9A58-02A6-836F-BCB84B48DC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65DAE1E-891D-4C35-58B9-6AF43F0EE9E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9225EB-0DB3-A7DD-FAC8-ACFA1E8A164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72A27DF-2FE4-2F71-9DE9-A4B4BBF07D4F}"/>
              </a:ext>
            </a:extLst>
          </p:cNvPr>
          <p:cNvSpPr>
            <a:spLocks noGrp="1"/>
          </p:cNvSpPr>
          <p:nvPr>
            <p:ph type="dt" sz="half" idx="10"/>
          </p:nvPr>
        </p:nvSpPr>
        <p:spPr/>
        <p:txBody>
          <a:bodyPr/>
          <a:lstStyle/>
          <a:p>
            <a:fld id="{48FB05D6-821A-4ECB-9351-01BB7FA45945}" type="datetimeFigureOut">
              <a:rPr lang="en-IN" smtClean="0"/>
              <a:t>06-05-2026</a:t>
            </a:fld>
            <a:endParaRPr lang="en-IN"/>
          </a:p>
        </p:txBody>
      </p:sp>
      <p:sp>
        <p:nvSpPr>
          <p:cNvPr id="8" name="Footer Placeholder 7">
            <a:extLst>
              <a:ext uri="{FF2B5EF4-FFF2-40B4-BE49-F238E27FC236}">
                <a16:creationId xmlns:a16="http://schemas.microsoft.com/office/drawing/2014/main" id="{C044974D-AC3A-F258-D461-371A7A2695B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69F2A56-7881-AB58-2751-5BF8100001F0}"/>
              </a:ext>
            </a:extLst>
          </p:cNvPr>
          <p:cNvSpPr>
            <a:spLocks noGrp="1"/>
          </p:cNvSpPr>
          <p:nvPr>
            <p:ph type="sldNum" sz="quarter" idx="12"/>
          </p:nvPr>
        </p:nvSpPr>
        <p:spPr/>
        <p:txBody>
          <a:bodyPr/>
          <a:lstStyle/>
          <a:p>
            <a:fld id="{C794F1ED-C4B2-4CAD-96C6-93BFC97CC8F3}" type="slidenum">
              <a:rPr lang="en-IN" smtClean="0"/>
              <a:t>‹#›</a:t>
            </a:fld>
            <a:endParaRPr lang="en-IN"/>
          </a:p>
        </p:txBody>
      </p:sp>
    </p:spTree>
    <p:extLst>
      <p:ext uri="{BB962C8B-B14F-4D97-AF65-F5344CB8AC3E}">
        <p14:creationId xmlns:p14="http://schemas.microsoft.com/office/powerpoint/2010/main" val="1349282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DE446-0C55-B849-9CAF-758DBF1602C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95F7FE8-C5F0-019B-D050-06FDC3C66122}"/>
              </a:ext>
            </a:extLst>
          </p:cNvPr>
          <p:cNvSpPr>
            <a:spLocks noGrp="1"/>
          </p:cNvSpPr>
          <p:nvPr>
            <p:ph type="dt" sz="half" idx="10"/>
          </p:nvPr>
        </p:nvSpPr>
        <p:spPr/>
        <p:txBody>
          <a:bodyPr/>
          <a:lstStyle/>
          <a:p>
            <a:fld id="{48FB05D6-821A-4ECB-9351-01BB7FA45945}" type="datetimeFigureOut">
              <a:rPr lang="en-IN" smtClean="0"/>
              <a:t>06-05-2026</a:t>
            </a:fld>
            <a:endParaRPr lang="en-IN"/>
          </a:p>
        </p:txBody>
      </p:sp>
      <p:sp>
        <p:nvSpPr>
          <p:cNvPr id="4" name="Footer Placeholder 3">
            <a:extLst>
              <a:ext uri="{FF2B5EF4-FFF2-40B4-BE49-F238E27FC236}">
                <a16:creationId xmlns:a16="http://schemas.microsoft.com/office/drawing/2014/main" id="{5AAFC5C5-031E-76A9-DE03-9F5A04E7962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253242F-1850-2339-E705-B8D69B0BBD38}"/>
              </a:ext>
            </a:extLst>
          </p:cNvPr>
          <p:cNvSpPr>
            <a:spLocks noGrp="1"/>
          </p:cNvSpPr>
          <p:nvPr>
            <p:ph type="sldNum" sz="quarter" idx="12"/>
          </p:nvPr>
        </p:nvSpPr>
        <p:spPr/>
        <p:txBody>
          <a:bodyPr/>
          <a:lstStyle/>
          <a:p>
            <a:fld id="{C794F1ED-C4B2-4CAD-96C6-93BFC97CC8F3}" type="slidenum">
              <a:rPr lang="en-IN" smtClean="0"/>
              <a:t>‹#›</a:t>
            </a:fld>
            <a:endParaRPr lang="en-IN"/>
          </a:p>
        </p:txBody>
      </p:sp>
    </p:spTree>
    <p:extLst>
      <p:ext uri="{BB962C8B-B14F-4D97-AF65-F5344CB8AC3E}">
        <p14:creationId xmlns:p14="http://schemas.microsoft.com/office/powerpoint/2010/main" val="533909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358C5D-C711-01BF-5EEB-F8A5F763F9E1}"/>
              </a:ext>
            </a:extLst>
          </p:cNvPr>
          <p:cNvSpPr>
            <a:spLocks noGrp="1"/>
          </p:cNvSpPr>
          <p:nvPr>
            <p:ph type="dt" sz="half" idx="10"/>
          </p:nvPr>
        </p:nvSpPr>
        <p:spPr/>
        <p:txBody>
          <a:bodyPr/>
          <a:lstStyle/>
          <a:p>
            <a:fld id="{48FB05D6-821A-4ECB-9351-01BB7FA45945}" type="datetimeFigureOut">
              <a:rPr lang="en-IN" smtClean="0"/>
              <a:t>06-05-2026</a:t>
            </a:fld>
            <a:endParaRPr lang="en-IN"/>
          </a:p>
        </p:txBody>
      </p:sp>
      <p:sp>
        <p:nvSpPr>
          <p:cNvPr id="3" name="Footer Placeholder 2">
            <a:extLst>
              <a:ext uri="{FF2B5EF4-FFF2-40B4-BE49-F238E27FC236}">
                <a16:creationId xmlns:a16="http://schemas.microsoft.com/office/drawing/2014/main" id="{998E9E67-CA64-1EC8-C390-3EA433E1765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ED3A359-072F-59B9-1682-7DB56DFF6682}"/>
              </a:ext>
            </a:extLst>
          </p:cNvPr>
          <p:cNvSpPr>
            <a:spLocks noGrp="1"/>
          </p:cNvSpPr>
          <p:nvPr>
            <p:ph type="sldNum" sz="quarter" idx="12"/>
          </p:nvPr>
        </p:nvSpPr>
        <p:spPr/>
        <p:txBody>
          <a:bodyPr/>
          <a:lstStyle/>
          <a:p>
            <a:fld id="{C794F1ED-C4B2-4CAD-96C6-93BFC97CC8F3}" type="slidenum">
              <a:rPr lang="en-IN" smtClean="0"/>
              <a:t>‹#›</a:t>
            </a:fld>
            <a:endParaRPr lang="en-IN"/>
          </a:p>
        </p:txBody>
      </p:sp>
    </p:spTree>
    <p:extLst>
      <p:ext uri="{BB962C8B-B14F-4D97-AF65-F5344CB8AC3E}">
        <p14:creationId xmlns:p14="http://schemas.microsoft.com/office/powerpoint/2010/main" val="2545710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11B05-B01D-3338-16C8-2EE96B262C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D4BA470-3533-9E80-EFB3-31D9097810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46C613F-3BFB-4FDF-5CD3-0844CD717A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110B1C-DE32-5972-1583-40C45435DAF4}"/>
              </a:ext>
            </a:extLst>
          </p:cNvPr>
          <p:cNvSpPr>
            <a:spLocks noGrp="1"/>
          </p:cNvSpPr>
          <p:nvPr>
            <p:ph type="dt" sz="half" idx="10"/>
          </p:nvPr>
        </p:nvSpPr>
        <p:spPr/>
        <p:txBody>
          <a:bodyPr/>
          <a:lstStyle/>
          <a:p>
            <a:fld id="{48FB05D6-821A-4ECB-9351-01BB7FA45945}" type="datetimeFigureOut">
              <a:rPr lang="en-IN" smtClean="0"/>
              <a:t>06-05-2026</a:t>
            </a:fld>
            <a:endParaRPr lang="en-IN"/>
          </a:p>
        </p:txBody>
      </p:sp>
      <p:sp>
        <p:nvSpPr>
          <p:cNvPr id="6" name="Footer Placeholder 5">
            <a:extLst>
              <a:ext uri="{FF2B5EF4-FFF2-40B4-BE49-F238E27FC236}">
                <a16:creationId xmlns:a16="http://schemas.microsoft.com/office/drawing/2014/main" id="{7D9B201C-B296-A21C-3E57-BBCDD78F88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914E2B-D59B-BD79-46AF-7F7A0D502953}"/>
              </a:ext>
            </a:extLst>
          </p:cNvPr>
          <p:cNvSpPr>
            <a:spLocks noGrp="1"/>
          </p:cNvSpPr>
          <p:nvPr>
            <p:ph type="sldNum" sz="quarter" idx="12"/>
          </p:nvPr>
        </p:nvSpPr>
        <p:spPr/>
        <p:txBody>
          <a:bodyPr/>
          <a:lstStyle/>
          <a:p>
            <a:fld id="{C794F1ED-C4B2-4CAD-96C6-93BFC97CC8F3}" type="slidenum">
              <a:rPr lang="en-IN" smtClean="0"/>
              <a:t>‹#›</a:t>
            </a:fld>
            <a:endParaRPr lang="en-IN"/>
          </a:p>
        </p:txBody>
      </p:sp>
    </p:spTree>
    <p:extLst>
      <p:ext uri="{BB962C8B-B14F-4D97-AF65-F5344CB8AC3E}">
        <p14:creationId xmlns:p14="http://schemas.microsoft.com/office/powerpoint/2010/main" val="24288032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EB327-2F92-C3AC-4AC0-09528907E6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259D647-82D8-FE76-AC21-76A905163E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E3C4C5F-94D4-D559-381C-8285AE777C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C63A60-EAC0-F1CB-38E6-6E5E2C27DF36}"/>
              </a:ext>
            </a:extLst>
          </p:cNvPr>
          <p:cNvSpPr>
            <a:spLocks noGrp="1"/>
          </p:cNvSpPr>
          <p:nvPr>
            <p:ph type="dt" sz="half" idx="10"/>
          </p:nvPr>
        </p:nvSpPr>
        <p:spPr/>
        <p:txBody>
          <a:bodyPr/>
          <a:lstStyle/>
          <a:p>
            <a:fld id="{48FB05D6-821A-4ECB-9351-01BB7FA45945}" type="datetimeFigureOut">
              <a:rPr lang="en-IN" smtClean="0"/>
              <a:t>06-05-2026</a:t>
            </a:fld>
            <a:endParaRPr lang="en-IN"/>
          </a:p>
        </p:txBody>
      </p:sp>
      <p:sp>
        <p:nvSpPr>
          <p:cNvPr id="6" name="Footer Placeholder 5">
            <a:extLst>
              <a:ext uri="{FF2B5EF4-FFF2-40B4-BE49-F238E27FC236}">
                <a16:creationId xmlns:a16="http://schemas.microsoft.com/office/drawing/2014/main" id="{709544E4-CF97-4331-9ACB-44E2F8FC59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4A1D33-473A-01EE-AC81-71EDF508C6F0}"/>
              </a:ext>
            </a:extLst>
          </p:cNvPr>
          <p:cNvSpPr>
            <a:spLocks noGrp="1"/>
          </p:cNvSpPr>
          <p:nvPr>
            <p:ph type="sldNum" sz="quarter" idx="12"/>
          </p:nvPr>
        </p:nvSpPr>
        <p:spPr/>
        <p:txBody>
          <a:bodyPr/>
          <a:lstStyle/>
          <a:p>
            <a:fld id="{C794F1ED-C4B2-4CAD-96C6-93BFC97CC8F3}" type="slidenum">
              <a:rPr lang="en-IN" smtClean="0"/>
              <a:t>‹#›</a:t>
            </a:fld>
            <a:endParaRPr lang="en-IN"/>
          </a:p>
        </p:txBody>
      </p:sp>
    </p:spTree>
    <p:extLst>
      <p:ext uri="{BB962C8B-B14F-4D97-AF65-F5344CB8AC3E}">
        <p14:creationId xmlns:p14="http://schemas.microsoft.com/office/powerpoint/2010/main" val="411100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7BFAA-5CF9-31A4-8E5B-824D81C3B89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CB34457-3C64-1979-0B3A-86CA34F3D6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CF0C2C-A828-31D8-8816-FD98F37E290F}"/>
              </a:ext>
            </a:extLst>
          </p:cNvPr>
          <p:cNvSpPr>
            <a:spLocks noGrp="1"/>
          </p:cNvSpPr>
          <p:nvPr>
            <p:ph type="dt" sz="half" idx="10"/>
          </p:nvPr>
        </p:nvSpPr>
        <p:spPr/>
        <p:txBody>
          <a:bodyPr/>
          <a:lstStyle/>
          <a:p>
            <a:fld id="{48FB05D6-821A-4ECB-9351-01BB7FA45945}" type="datetimeFigureOut">
              <a:rPr lang="en-IN" smtClean="0"/>
              <a:t>06-05-2026</a:t>
            </a:fld>
            <a:endParaRPr lang="en-IN"/>
          </a:p>
        </p:txBody>
      </p:sp>
      <p:sp>
        <p:nvSpPr>
          <p:cNvPr id="5" name="Footer Placeholder 4">
            <a:extLst>
              <a:ext uri="{FF2B5EF4-FFF2-40B4-BE49-F238E27FC236}">
                <a16:creationId xmlns:a16="http://schemas.microsoft.com/office/drawing/2014/main" id="{9B791F4B-389A-09D2-82FD-0EF823F3DE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BB9B6E-BAB0-5CDB-09DA-D0F5C82EE506}"/>
              </a:ext>
            </a:extLst>
          </p:cNvPr>
          <p:cNvSpPr>
            <a:spLocks noGrp="1"/>
          </p:cNvSpPr>
          <p:nvPr>
            <p:ph type="sldNum" sz="quarter" idx="12"/>
          </p:nvPr>
        </p:nvSpPr>
        <p:spPr/>
        <p:txBody>
          <a:bodyPr/>
          <a:lstStyle/>
          <a:p>
            <a:fld id="{C794F1ED-C4B2-4CAD-96C6-93BFC97CC8F3}" type="slidenum">
              <a:rPr lang="en-IN" smtClean="0"/>
              <a:t>‹#›</a:t>
            </a:fld>
            <a:endParaRPr lang="en-IN"/>
          </a:p>
        </p:txBody>
      </p:sp>
    </p:spTree>
    <p:extLst>
      <p:ext uri="{BB962C8B-B14F-4D97-AF65-F5344CB8AC3E}">
        <p14:creationId xmlns:p14="http://schemas.microsoft.com/office/powerpoint/2010/main" val="298064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BC11B9-F90D-EE6E-00CF-1B21E2387A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1C4F68B-03C5-3032-2282-9B5237316A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B9CFB3-D039-7297-187B-E6FADDBC7459}"/>
              </a:ext>
            </a:extLst>
          </p:cNvPr>
          <p:cNvSpPr>
            <a:spLocks noGrp="1"/>
          </p:cNvSpPr>
          <p:nvPr>
            <p:ph type="dt" sz="half" idx="10"/>
          </p:nvPr>
        </p:nvSpPr>
        <p:spPr/>
        <p:txBody>
          <a:bodyPr/>
          <a:lstStyle/>
          <a:p>
            <a:fld id="{48FB05D6-821A-4ECB-9351-01BB7FA45945}" type="datetimeFigureOut">
              <a:rPr lang="en-IN" smtClean="0"/>
              <a:t>06-05-2026</a:t>
            </a:fld>
            <a:endParaRPr lang="en-IN"/>
          </a:p>
        </p:txBody>
      </p:sp>
      <p:sp>
        <p:nvSpPr>
          <p:cNvPr id="5" name="Footer Placeholder 4">
            <a:extLst>
              <a:ext uri="{FF2B5EF4-FFF2-40B4-BE49-F238E27FC236}">
                <a16:creationId xmlns:a16="http://schemas.microsoft.com/office/drawing/2014/main" id="{94B7BC7B-F4A9-69E3-D450-CC5A454B03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45A64E-B927-1434-7FA9-94B20C113352}"/>
              </a:ext>
            </a:extLst>
          </p:cNvPr>
          <p:cNvSpPr>
            <a:spLocks noGrp="1"/>
          </p:cNvSpPr>
          <p:nvPr>
            <p:ph type="sldNum" sz="quarter" idx="12"/>
          </p:nvPr>
        </p:nvSpPr>
        <p:spPr/>
        <p:txBody>
          <a:bodyPr/>
          <a:lstStyle/>
          <a:p>
            <a:fld id="{C794F1ED-C4B2-4CAD-96C6-93BFC97CC8F3}" type="slidenum">
              <a:rPr lang="en-IN" smtClean="0"/>
              <a:t>‹#›</a:t>
            </a:fld>
            <a:endParaRPr lang="en-IN"/>
          </a:p>
        </p:txBody>
      </p:sp>
    </p:spTree>
    <p:extLst>
      <p:ext uri="{BB962C8B-B14F-4D97-AF65-F5344CB8AC3E}">
        <p14:creationId xmlns:p14="http://schemas.microsoft.com/office/powerpoint/2010/main" val="4100835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68BA16-A143-3B73-C16C-6C7E0FE639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6B42BC9-676A-1E90-22B1-8E558A2760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0C42B17-AC98-F3B4-20E5-B50963D36F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8FB05D6-821A-4ECB-9351-01BB7FA45945}" type="datetimeFigureOut">
              <a:rPr lang="en-IN" smtClean="0"/>
              <a:t>06-05-2026</a:t>
            </a:fld>
            <a:endParaRPr lang="en-IN"/>
          </a:p>
        </p:txBody>
      </p:sp>
      <p:sp>
        <p:nvSpPr>
          <p:cNvPr id="5" name="Footer Placeholder 4">
            <a:extLst>
              <a:ext uri="{FF2B5EF4-FFF2-40B4-BE49-F238E27FC236}">
                <a16:creationId xmlns:a16="http://schemas.microsoft.com/office/drawing/2014/main" id="{F6912148-B1AA-E062-D1FA-53229CBB44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B3CD4B6-FE86-4153-2477-568317E55F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94F1ED-C4B2-4CAD-96C6-93BFC97CC8F3}" type="slidenum">
              <a:rPr lang="en-IN" smtClean="0"/>
              <a:t>‹#›</a:t>
            </a:fld>
            <a:endParaRPr lang="en-IN"/>
          </a:p>
        </p:txBody>
      </p:sp>
    </p:spTree>
    <p:extLst>
      <p:ext uri="{BB962C8B-B14F-4D97-AF65-F5344CB8AC3E}">
        <p14:creationId xmlns:p14="http://schemas.microsoft.com/office/powerpoint/2010/main" val="39350042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6.sv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95470" y="6023535"/>
            <a:ext cx="1187931" cy="1209929"/>
          </a:xfrm>
          <a:custGeom>
            <a:avLst/>
            <a:gdLst/>
            <a:ahLst/>
            <a:cxnLst/>
            <a:rect l="l" t="t" r="r" b="b"/>
            <a:pathLst>
              <a:path w="1781896" h="1814894">
                <a:moveTo>
                  <a:pt x="0" y="0"/>
                </a:moveTo>
                <a:lnTo>
                  <a:pt x="1781896" y="0"/>
                </a:lnTo>
                <a:lnTo>
                  <a:pt x="1781896" y="1814894"/>
                </a:lnTo>
                <a:lnTo>
                  <a:pt x="0" y="181489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0" y="0"/>
            <a:ext cx="11991784" cy="1317861"/>
          </a:xfrm>
          <a:custGeom>
            <a:avLst/>
            <a:gdLst/>
            <a:ahLst/>
            <a:cxnLst/>
            <a:rect l="l" t="t" r="r" b="b"/>
            <a:pathLst>
              <a:path w="17987676" h="1976792">
                <a:moveTo>
                  <a:pt x="0" y="0"/>
                </a:moveTo>
                <a:lnTo>
                  <a:pt x="17987676" y="0"/>
                </a:lnTo>
                <a:lnTo>
                  <a:pt x="17987676" y="1976792"/>
                </a:lnTo>
                <a:lnTo>
                  <a:pt x="0" y="1976792"/>
                </a:lnTo>
                <a:lnTo>
                  <a:pt x="0" y="0"/>
                </a:lnTo>
                <a:close/>
              </a:path>
            </a:pathLst>
          </a:custGeom>
          <a:blipFill>
            <a:blip r:embed="rId3"/>
            <a:stretch>
              <a:fillRect t="-3637" b="-15050"/>
            </a:stretch>
          </a:blipFill>
        </p:spPr>
      </p:sp>
      <p:sp>
        <p:nvSpPr>
          <p:cNvPr id="5" name="TextBox 5"/>
          <p:cNvSpPr txBox="1"/>
          <p:nvPr/>
        </p:nvSpPr>
        <p:spPr>
          <a:xfrm>
            <a:off x="1118487" y="2421599"/>
            <a:ext cx="10207079" cy="435953"/>
          </a:xfrm>
          <a:prstGeom prst="rect">
            <a:avLst/>
          </a:prstGeom>
        </p:spPr>
        <p:txBody>
          <a:bodyPr lIns="0" tIns="0" rIns="0" bIns="0" rtlCol="0" anchor="t">
            <a:spAutoFit/>
          </a:bodyPr>
          <a:lstStyle/>
          <a:p>
            <a:pPr algn="ctr">
              <a:lnSpc>
                <a:spcPts val="3733"/>
              </a:lnSpc>
              <a:spcBef>
                <a:spcPct val="0"/>
              </a:spcBef>
            </a:pPr>
            <a:r>
              <a:rPr lang="en-US" sz="2666" b="1" dirty="0">
                <a:solidFill>
                  <a:srgbClr val="227C9D"/>
                </a:solidFill>
                <a:latin typeface="Times New Roman Bold"/>
                <a:ea typeface="Times New Roman Bold"/>
                <a:cs typeface="Times New Roman Bold"/>
                <a:sym typeface="Times New Roman Bold"/>
              </a:rPr>
              <a:t>Social Media Privacy Guard: Context-Aware AI Anonymization</a:t>
            </a:r>
          </a:p>
        </p:txBody>
      </p:sp>
      <p:sp>
        <p:nvSpPr>
          <p:cNvPr id="6" name="TextBox 6"/>
          <p:cNvSpPr txBox="1"/>
          <p:nvPr/>
        </p:nvSpPr>
        <p:spPr>
          <a:xfrm>
            <a:off x="810035" y="3805693"/>
            <a:ext cx="3867748" cy="1767150"/>
          </a:xfrm>
          <a:prstGeom prst="rect">
            <a:avLst/>
          </a:prstGeom>
        </p:spPr>
        <p:txBody>
          <a:bodyPr wrap="square" lIns="0" tIns="0" rIns="0" bIns="0" rtlCol="0" anchor="t">
            <a:spAutoFit/>
          </a:bodyPr>
          <a:lstStyle/>
          <a:p>
            <a:pPr algn="ctr">
              <a:lnSpc>
                <a:spcPts val="3799"/>
              </a:lnSpc>
            </a:pPr>
            <a:r>
              <a:rPr lang="en-US" sz="1767" b="1" dirty="0">
                <a:solidFill>
                  <a:srgbClr val="000000"/>
                </a:solidFill>
                <a:latin typeface="DM Sans Bold"/>
                <a:ea typeface="DM Sans Bold"/>
                <a:cs typeface="DM Sans Bold"/>
                <a:sym typeface="DM Sans Bold"/>
              </a:rPr>
              <a:t>DARSHAN I C (4VV23CI014)      MOULYA SHREE V (4VV23CI053)      MADHUSUDHAN (4VV24CI404)</a:t>
            </a:r>
          </a:p>
          <a:p>
            <a:pPr algn="ctr">
              <a:lnSpc>
                <a:spcPts val="2473"/>
              </a:lnSpc>
              <a:spcBef>
                <a:spcPct val="0"/>
              </a:spcBef>
            </a:pPr>
            <a:endParaRPr lang="en-US" sz="1767" dirty="0">
              <a:solidFill>
                <a:srgbClr val="000000"/>
              </a:solidFill>
              <a:latin typeface="DM Sans"/>
              <a:ea typeface="DM Sans"/>
              <a:cs typeface="DM Sans"/>
              <a:sym typeface="DM Sans"/>
            </a:endParaRPr>
          </a:p>
        </p:txBody>
      </p:sp>
      <p:sp>
        <p:nvSpPr>
          <p:cNvPr id="7" name="TextBox 7"/>
          <p:cNvSpPr txBox="1"/>
          <p:nvPr/>
        </p:nvSpPr>
        <p:spPr>
          <a:xfrm>
            <a:off x="7514218" y="3805693"/>
            <a:ext cx="3522069" cy="2039597"/>
          </a:xfrm>
          <a:prstGeom prst="rect">
            <a:avLst/>
          </a:prstGeom>
        </p:spPr>
        <p:txBody>
          <a:bodyPr lIns="0" tIns="0" rIns="0" bIns="0" rtlCol="0" anchor="t">
            <a:spAutoFit/>
          </a:bodyPr>
          <a:lstStyle/>
          <a:p>
            <a:pPr algn="ctr">
              <a:lnSpc>
                <a:spcPts val="3798"/>
              </a:lnSpc>
            </a:pPr>
            <a:r>
              <a:rPr lang="en-US" sz="1766" b="1" dirty="0">
                <a:solidFill>
                  <a:srgbClr val="000000"/>
                </a:solidFill>
                <a:latin typeface="DM Sans Bold"/>
                <a:ea typeface="DM Sans Bold"/>
                <a:cs typeface="DM Sans Bold"/>
                <a:sym typeface="DM Sans Bold"/>
              </a:rPr>
              <a:t>UNDER THE GUIDANCE OF</a:t>
            </a:r>
          </a:p>
          <a:p>
            <a:pPr algn="ctr">
              <a:lnSpc>
                <a:spcPts val="2738"/>
              </a:lnSpc>
            </a:pPr>
            <a:r>
              <a:rPr lang="en-US" sz="1766" dirty="0">
                <a:solidFill>
                  <a:srgbClr val="000000"/>
                </a:solidFill>
                <a:latin typeface="DM Sans"/>
                <a:ea typeface="DM Sans"/>
                <a:cs typeface="DM Sans"/>
                <a:sym typeface="DM Sans"/>
              </a:rPr>
              <a:t>Prof Nidhishree G</a:t>
            </a:r>
          </a:p>
          <a:p>
            <a:pPr algn="ctr">
              <a:lnSpc>
                <a:spcPts val="2738"/>
              </a:lnSpc>
            </a:pPr>
            <a:r>
              <a:rPr lang="en-US" sz="1766" dirty="0">
                <a:solidFill>
                  <a:srgbClr val="000000"/>
                </a:solidFill>
                <a:latin typeface="DM Sans"/>
                <a:ea typeface="DM Sans"/>
                <a:cs typeface="DM Sans"/>
                <a:sym typeface="DM Sans"/>
              </a:rPr>
              <a:t>Assistant Professor</a:t>
            </a:r>
          </a:p>
          <a:p>
            <a:pPr algn="ctr">
              <a:lnSpc>
                <a:spcPts val="2738"/>
              </a:lnSpc>
            </a:pPr>
            <a:r>
              <a:rPr lang="en-US" sz="1766" dirty="0">
                <a:solidFill>
                  <a:srgbClr val="000000"/>
                </a:solidFill>
                <a:latin typeface="DM Sans"/>
                <a:ea typeface="DM Sans"/>
                <a:cs typeface="DM Sans"/>
                <a:sym typeface="DM Sans"/>
              </a:rPr>
              <a:t> Dept. of CSE(AI&amp;ML), VVCE</a:t>
            </a:r>
          </a:p>
          <a:p>
            <a:pPr algn="ctr">
              <a:lnSpc>
                <a:spcPts val="1961"/>
              </a:lnSpc>
            </a:pPr>
            <a:endParaRPr lang="en-US" sz="1766" dirty="0">
              <a:solidFill>
                <a:srgbClr val="000000"/>
              </a:solidFill>
              <a:latin typeface="DM Sans"/>
              <a:ea typeface="DM Sans"/>
              <a:cs typeface="DM Sans"/>
              <a:sym typeface="DM Sans"/>
            </a:endParaRPr>
          </a:p>
          <a:p>
            <a:pPr algn="ctr">
              <a:lnSpc>
                <a:spcPts val="1961"/>
              </a:lnSpc>
              <a:spcBef>
                <a:spcPct val="0"/>
              </a:spcBef>
            </a:pPr>
            <a:endParaRPr lang="en-US" sz="1766" dirty="0">
              <a:solidFill>
                <a:srgbClr val="000000"/>
              </a:solidFill>
              <a:latin typeface="DM Sans"/>
              <a:ea typeface="DM Sans"/>
              <a:cs typeface="DM Sans"/>
              <a:sym typeface="DM Sans"/>
            </a:endParaRPr>
          </a:p>
        </p:txBody>
      </p:sp>
      <p:sp>
        <p:nvSpPr>
          <p:cNvPr id="8" name="TextBox 8"/>
          <p:cNvSpPr txBox="1"/>
          <p:nvPr/>
        </p:nvSpPr>
        <p:spPr>
          <a:xfrm>
            <a:off x="2455679" y="590550"/>
            <a:ext cx="7080427" cy="888513"/>
          </a:xfrm>
          <a:prstGeom prst="rect">
            <a:avLst/>
          </a:prstGeom>
        </p:spPr>
        <p:txBody>
          <a:bodyPr lIns="0" tIns="0" rIns="0" bIns="0" rtlCol="0" anchor="t">
            <a:spAutoFit/>
          </a:bodyPr>
          <a:lstStyle/>
          <a:p>
            <a:pPr algn="ctr">
              <a:lnSpc>
                <a:spcPts val="2394"/>
              </a:lnSpc>
            </a:pPr>
            <a:r>
              <a:rPr lang="en-US" sz="1400">
                <a:solidFill>
                  <a:srgbClr val="000000"/>
                </a:solidFill>
                <a:latin typeface="Times New Roman"/>
                <a:ea typeface="Times New Roman"/>
                <a:cs typeface="Times New Roman"/>
                <a:sym typeface="Times New Roman"/>
              </a:rPr>
              <a:t>Affiliated by VTU and approved by AICTE Accredited by NAAC &amp; NBA with ‘A’ grade</a:t>
            </a:r>
          </a:p>
          <a:p>
            <a:pPr algn="ctr">
              <a:lnSpc>
                <a:spcPts val="2394"/>
              </a:lnSpc>
            </a:pPr>
            <a:r>
              <a:rPr lang="en-US" sz="1400">
                <a:solidFill>
                  <a:srgbClr val="000000"/>
                </a:solidFill>
                <a:latin typeface="Times New Roman"/>
                <a:ea typeface="Times New Roman"/>
                <a:cs typeface="Times New Roman"/>
                <a:sym typeface="Times New Roman"/>
              </a:rPr>
              <a:t>Gokulam 3rd stage, Mysuru , Karnataka.</a:t>
            </a:r>
          </a:p>
          <a:p>
            <a:pPr algn="ctr">
              <a:lnSpc>
                <a:spcPts val="2394"/>
              </a:lnSpc>
            </a:pPr>
            <a:endParaRPr lang="en-US" sz="1400">
              <a:solidFill>
                <a:srgbClr val="000000"/>
              </a:solidFill>
              <a:latin typeface="Times New Roman"/>
              <a:ea typeface="Times New Roman"/>
              <a:cs typeface="Times New Roman"/>
              <a:sym typeface="Times New Roman"/>
            </a:endParaRPr>
          </a:p>
        </p:txBody>
      </p:sp>
      <p:sp>
        <p:nvSpPr>
          <p:cNvPr id="9" name="TextBox 9"/>
          <p:cNvSpPr txBox="1"/>
          <p:nvPr/>
        </p:nvSpPr>
        <p:spPr>
          <a:xfrm>
            <a:off x="1118486" y="1612289"/>
            <a:ext cx="10902384" cy="664028"/>
          </a:xfrm>
          <a:prstGeom prst="rect">
            <a:avLst/>
          </a:prstGeom>
        </p:spPr>
        <p:txBody>
          <a:bodyPr lIns="0" tIns="0" rIns="0" bIns="0" rtlCol="0" anchor="t">
            <a:spAutoFit/>
          </a:bodyPr>
          <a:lstStyle/>
          <a:p>
            <a:pPr algn="just">
              <a:lnSpc>
                <a:spcPts val="2707"/>
              </a:lnSpc>
            </a:pPr>
            <a:r>
              <a:rPr lang="en-US" sz="1933" b="1">
                <a:solidFill>
                  <a:srgbClr val="000000"/>
                </a:solidFill>
                <a:latin typeface="Times New Roman Bold"/>
                <a:ea typeface="Times New Roman Bold"/>
                <a:cs typeface="Times New Roman Bold"/>
                <a:sym typeface="Times New Roman Bold"/>
              </a:rPr>
              <a:t>                               Department: CSE(Artificial Engineering &amp; Machine Learning)</a:t>
            </a:r>
          </a:p>
          <a:p>
            <a:pPr algn="just">
              <a:lnSpc>
                <a:spcPts val="2707"/>
              </a:lnSpc>
              <a:spcBef>
                <a:spcPct val="0"/>
              </a:spcBef>
            </a:pPr>
            <a:endParaRPr lang="en-US" sz="1933" b="1">
              <a:solidFill>
                <a:srgbClr val="000000"/>
              </a:solidFill>
              <a:latin typeface="Times New Roman Bold"/>
              <a:ea typeface="Times New Roman Bold"/>
              <a:cs typeface="Times New Roman Bold"/>
              <a:sym typeface="Times New Roman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8114E-9400-3116-6022-3BFA19CBF8D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014146A-0681-9087-71BB-466CADF1942A}"/>
              </a:ext>
            </a:extLst>
          </p:cNvPr>
          <p:cNvGrpSpPr/>
          <p:nvPr/>
        </p:nvGrpSpPr>
        <p:grpSpPr>
          <a:xfrm rot="2700000">
            <a:off x="9587483" y="5049786"/>
            <a:ext cx="4943599" cy="2376730"/>
            <a:chOff x="0" y="0"/>
            <a:chExt cx="660400" cy="317500"/>
          </a:xfrm>
        </p:grpSpPr>
        <p:sp>
          <p:nvSpPr>
            <p:cNvPr id="3" name="Freeform 3">
              <a:extLst>
                <a:ext uri="{FF2B5EF4-FFF2-40B4-BE49-F238E27FC236}">
                  <a16:creationId xmlns:a16="http://schemas.microsoft.com/office/drawing/2014/main" id="{DB6205D6-51A2-71E0-240F-6A12B5B31DF5}"/>
                </a:ext>
              </a:extLst>
            </p:cNvPr>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id="4" name="TextBox 4">
              <a:extLst>
                <a:ext uri="{FF2B5EF4-FFF2-40B4-BE49-F238E27FC236}">
                  <a16:creationId xmlns:a16="http://schemas.microsoft.com/office/drawing/2014/main" id="{1548401D-0247-134C-4C15-9AF2A16A288F}"/>
                </a:ext>
              </a:extLst>
            </p:cNvPr>
            <p:cNvSpPr txBox="1"/>
            <p:nvPr/>
          </p:nvSpPr>
          <p:spPr>
            <a:xfrm>
              <a:off x="0" y="146050"/>
              <a:ext cx="660400" cy="171450"/>
            </a:xfrm>
            <a:prstGeom prst="rect">
              <a:avLst/>
            </a:prstGeom>
          </p:spPr>
          <p:txBody>
            <a:bodyPr lIns="33867" tIns="33867" rIns="33867" bIns="33867" rtlCol="0" anchor="ctr"/>
            <a:lstStyle/>
            <a:p>
              <a:pPr algn="ctr">
                <a:lnSpc>
                  <a:spcPts val="1702"/>
                </a:lnSpc>
              </a:pPr>
              <a:endParaRPr sz="1200"/>
            </a:p>
          </p:txBody>
        </p:sp>
      </p:grpSp>
      <p:sp>
        <p:nvSpPr>
          <p:cNvPr id="5" name="AutoShape 5">
            <a:extLst>
              <a:ext uri="{FF2B5EF4-FFF2-40B4-BE49-F238E27FC236}">
                <a16:creationId xmlns:a16="http://schemas.microsoft.com/office/drawing/2014/main" id="{E3940B94-B37D-2625-CC1A-70A21A0D563D}"/>
              </a:ext>
            </a:extLst>
          </p:cNvPr>
          <p:cNvSpPr/>
          <p:nvPr/>
        </p:nvSpPr>
        <p:spPr>
          <a:xfrm>
            <a:off x="9279073" y="5596153"/>
            <a:ext cx="3456811" cy="3421801"/>
          </a:xfrm>
          <a:prstGeom prst="line">
            <a:avLst/>
          </a:prstGeom>
          <a:ln w="28575" cap="flat">
            <a:solidFill>
              <a:srgbClr val="8CA9AD"/>
            </a:solidFill>
            <a:prstDash val="solid"/>
            <a:headEnd type="none" w="sm" len="sm"/>
            <a:tailEnd type="none" w="sm" len="sm"/>
          </a:ln>
        </p:spPr>
      </p:sp>
      <p:sp>
        <p:nvSpPr>
          <p:cNvPr id="6" name="AutoShape 6">
            <a:extLst>
              <a:ext uri="{FF2B5EF4-FFF2-40B4-BE49-F238E27FC236}">
                <a16:creationId xmlns:a16="http://schemas.microsoft.com/office/drawing/2014/main" id="{86976DF5-8913-1F55-AA5F-01BF355B9331}"/>
              </a:ext>
            </a:extLst>
          </p:cNvPr>
          <p:cNvSpPr/>
          <p:nvPr/>
        </p:nvSpPr>
        <p:spPr>
          <a:xfrm>
            <a:off x="9136443" y="5804604"/>
            <a:ext cx="3359235" cy="3359235"/>
          </a:xfrm>
          <a:prstGeom prst="line">
            <a:avLst/>
          </a:prstGeom>
          <a:ln w="28575" cap="flat">
            <a:solidFill>
              <a:srgbClr val="8CA9AD"/>
            </a:solidFill>
            <a:prstDash val="solid"/>
            <a:headEnd type="none" w="sm" len="sm"/>
            <a:tailEnd type="none" w="sm" len="sm"/>
          </a:ln>
        </p:spPr>
      </p:sp>
      <p:sp>
        <p:nvSpPr>
          <p:cNvPr id="7" name="AutoShape 7">
            <a:extLst>
              <a:ext uri="{FF2B5EF4-FFF2-40B4-BE49-F238E27FC236}">
                <a16:creationId xmlns:a16="http://schemas.microsoft.com/office/drawing/2014/main" id="{1512312E-C31A-C55E-BE55-3CFC00C785E4}"/>
              </a:ext>
            </a:extLst>
          </p:cNvPr>
          <p:cNvSpPr/>
          <p:nvPr/>
        </p:nvSpPr>
        <p:spPr>
          <a:xfrm>
            <a:off x="9016708" y="6043584"/>
            <a:ext cx="3244761" cy="3244761"/>
          </a:xfrm>
          <a:prstGeom prst="line">
            <a:avLst/>
          </a:prstGeom>
          <a:ln w="28575" cap="flat">
            <a:solidFill>
              <a:srgbClr val="8CA9AD"/>
            </a:solidFill>
            <a:prstDash val="solid"/>
            <a:headEnd type="none" w="sm" len="sm"/>
            <a:tailEnd type="none" w="sm" len="sm"/>
          </a:ln>
        </p:spPr>
      </p:sp>
      <p:sp>
        <p:nvSpPr>
          <p:cNvPr id="8" name="AutoShape 8">
            <a:extLst>
              <a:ext uri="{FF2B5EF4-FFF2-40B4-BE49-F238E27FC236}">
                <a16:creationId xmlns:a16="http://schemas.microsoft.com/office/drawing/2014/main" id="{020A1C4E-B44F-0BCB-E52F-77A78523BE65}"/>
              </a:ext>
            </a:extLst>
          </p:cNvPr>
          <p:cNvSpPr/>
          <p:nvPr/>
        </p:nvSpPr>
        <p:spPr>
          <a:xfrm>
            <a:off x="8932272" y="6301096"/>
            <a:ext cx="3127010" cy="3127010"/>
          </a:xfrm>
          <a:prstGeom prst="line">
            <a:avLst/>
          </a:prstGeom>
          <a:ln w="28575" cap="flat">
            <a:solidFill>
              <a:srgbClr val="8CA9AD"/>
            </a:solidFill>
            <a:prstDash val="solid"/>
            <a:headEnd type="none" w="sm" len="sm"/>
            <a:tailEnd type="none" w="sm" len="sm"/>
          </a:ln>
        </p:spPr>
      </p:sp>
      <p:sp>
        <p:nvSpPr>
          <p:cNvPr id="9" name="AutoShape 9">
            <a:extLst>
              <a:ext uri="{FF2B5EF4-FFF2-40B4-BE49-F238E27FC236}">
                <a16:creationId xmlns:a16="http://schemas.microsoft.com/office/drawing/2014/main" id="{D794C3B6-8074-8450-DC3E-990A916D3775}"/>
              </a:ext>
            </a:extLst>
          </p:cNvPr>
          <p:cNvSpPr/>
          <p:nvPr/>
        </p:nvSpPr>
        <p:spPr>
          <a:xfrm>
            <a:off x="8836369" y="6594214"/>
            <a:ext cx="2898449" cy="2898449"/>
          </a:xfrm>
          <a:prstGeom prst="line">
            <a:avLst/>
          </a:prstGeom>
          <a:ln w="28575" cap="flat">
            <a:solidFill>
              <a:srgbClr val="8CA9AD"/>
            </a:solidFill>
            <a:prstDash val="solid"/>
            <a:headEnd type="none" w="sm" len="sm"/>
            <a:tailEnd type="none" w="sm" len="sm"/>
          </a:ln>
        </p:spPr>
      </p:sp>
      <p:sp>
        <p:nvSpPr>
          <p:cNvPr id="10" name="TextBox 10">
            <a:extLst>
              <a:ext uri="{FF2B5EF4-FFF2-40B4-BE49-F238E27FC236}">
                <a16:creationId xmlns:a16="http://schemas.microsoft.com/office/drawing/2014/main" id="{E53BD0C9-892D-41FB-453A-D1AAF76FAA76}"/>
              </a:ext>
            </a:extLst>
          </p:cNvPr>
          <p:cNvSpPr txBox="1"/>
          <p:nvPr/>
        </p:nvSpPr>
        <p:spPr>
          <a:xfrm>
            <a:off x="2900295" y="484377"/>
            <a:ext cx="5986919" cy="666849"/>
          </a:xfrm>
          <a:prstGeom prst="rect">
            <a:avLst/>
          </a:prstGeom>
        </p:spPr>
        <p:txBody>
          <a:bodyPr lIns="0" tIns="0" rIns="0" bIns="0" rtlCol="0" anchor="t">
            <a:spAutoFit/>
          </a:bodyPr>
          <a:lstStyle/>
          <a:p>
            <a:pPr algn="ctr">
              <a:lnSpc>
                <a:spcPts val="5200"/>
              </a:lnSpc>
            </a:pPr>
            <a:r>
              <a:rPr lang="en-US" sz="5200" b="1" dirty="0">
                <a:solidFill>
                  <a:srgbClr val="227C9D"/>
                </a:solidFill>
                <a:latin typeface="Times New Roman Bold"/>
                <a:ea typeface="Times New Roman Bold"/>
                <a:cs typeface="Times New Roman Bold"/>
                <a:sym typeface="Times New Roman Bold"/>
              </a:rPr>
              <a:t>Problem Statement</a:t>
            </a:r>
          </a:p>
        </p:txBody>
      </p:sp>
      <p:grpSp>
        <p:nvGrpSpPr>
          <p:cNvPr id="12" name="Group 12">
            <a:extLst>
              <a:ext uri="{FF2B5EF4-FFF2-40B4-BE49-F238E27FC236}">
                <a16:creationId xmlns:a16="http://schemas.microsoft.com/office/drawing/2014/main" id="{257E576F-4A36-3F86-C372-1E12BE57F0BA}"/>
              </a:ext>
            </a:extLst>
          </p:cNvPr>
          <p:cNvGrpSpPr/>
          <p:nvPr/>
        </p:nvGrpSpPr>
        <p:grpSpPr>
          <a:xfrm rot="2700000">
            <a:off x="-917594" y="-2062214"/>
            <a:ext cx="4943599" cy="2376730"/>
            <a:chOff x="0" y="0"/>
            <a:chExt cx="660400" cy="317500"/>
          </a:xfrm>
        </p:grpSpPr>
        <p:sp>
          <p:nvSpPr>
            <p:cNvPr id="13" name="Freeform 13">
              <a:extLst>
                <a:ext uri="{FF2B5EF4-FFF2-40B4-BE49-F238E27FC236}">
                  <a16:creationId xmlns:a16="http://schemas.microsoft.com/office/drawing/2014/main" id="{7178DB27-9CBB-31AF-A8D6-5527DDB1BAA2}"/>
                </a:ext>
              </a:extLst>
            </p:cNvPr>
            <p:cNvSpPr/>
            <p:nvPr/>
          </p:nvSpPr>
          <p:spPr>
            <a:xfrm>
              <a:off x="0" y="0"/>
              <a:ext cx="660400" cy="317500"/>
            </a:xfrm>
            <a:custGeom>
              <a:avLst/>
              <a:gdLst/>
              <a:ahLst/>
              <a:cxnLst/>
              <a:rect l="l" t="t" r="r" b="b"/>
              <a:pathLst>
                <a:path w="660400" h="3175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17500"/>
                  </a:cubicBezTo>
                  <a:lnTo>
                    <a:pt x="660400" y="317500"/>
                  </a:lnTo>
                  <a:lnTo>
                    <a:pt x="0" y="317500"/>
                  </a:lnTo>
                  <a:lnTo>
                    <a:pt x="0" y="317500"/>
                  </a:lnTo>
                  <a:cubicBezTo>
                    <a:pt x="1782" y="185660"/>
                    <a:pt x="93019" y="64045"/>
                    <a:pt x="220252" y="19070"/>
                  </a:cubicBezTo>
                  <a:close/>
                </a:path>
              </a:pathLst>
            </a:custGeom>
            <a:solidFill>
              <a:srgbClr val="000000">
                <a:alpha val="0"/>
              </a:srgbClr>
            </a:solidFill>
            <a:ln w="28575" cap="sq">
              <a:solidFill>
                <a:srgbClr val="8CA9AD"/>
              </a:solidFill>
              <a:prstDash val="solid"/>
              <a:miter/>
            </a:ln>
          </p:spPr>
        </p:sp>
        <p:sp>
          <p:nvSpPr>
            <p:cNvPr id="14" name="TextBox 14">
              <a:extLst>
                <a:ext uri="{FF2B5EF4-FFF2-40B4-BE49-F238E27FC236}">
                  <a16:creationId xmlns:a16="http://schemas.microsoft.com/office/drawing/2014/main" id="{B05323F3-AA06-2238-A10F-7059E889D1C7}"/>
                </a:ext>
              </a:extLst>
            </p:cNvPr>
            <p:cNvSpPr txBox="1"/>
            <p:nvPr/>
          </p:nvSpPr>
          <p:spPr>
            <a:xfrm>
              <a:off x="0" y="146050"/>
              <a:ext cx="660400" cy="171450"/>
            </a:xfrm>
            <a:prstGeom prst="rect">
              <a:avLst/>
            </a:prstGeom>
          </p:spPr>
          <p:txBody>
            <a:bodyPr lIns="33867" tIns="33867" rIns="33867" bIns="33867" rtlCol="0" anchor="ctr"/>
            <a:lstStyle/>
            <a:p>
              <a:pPr algn="ctr">
                <a:lnSpc>
                  <a:spcPts val="1702"/>
                </a:lnSpc>
              </a:pPr>
              <a:endParaRPr sz="1200"/>
            </a:p>
          </p:txBody>
        </p:sp>
      </p:grpSp>
      <p:sp>
        <p:nvSpPr>
          <p:cNvPr id="15" name="AutoShape 15">
            <a:extLst>
              <a:ext uri="{FF2B5EF4-FFF2-40B4-BE49-F238E27FC236}">
                <a16:creationId xmlns:a16="http://schemas.microsoft.com/office/drawing/2014/main" id="{5628551C-68A4-20B8-2CD0-7C33BCE4DB8B}"/>
              </a:ext>
            </a:extLst>
          </p:cNvPr>
          <p:cNvSpPr/>
          <p:nvPr/>
        </p:nvSpPr>
        <p:spPr>
          <a:xfrm>
            <a:off x="-1226004" y="-1515847"/>
            <a:ext cx="3456811" cy="3421801"/>
          </a:xfrm>
          <a:prstGeom prst="line">
            <a:avLst/>
          </a:prstGeom>
          <a:ln w="28575" cap="flat">
            <a:solidFill>
              <a:srgbClr val="8CA9AD"/>
            </a:solidFill>
            <a:prstDash val="solid"/>
            <a:headEnd type="none" w="sm" len="sm"/>
            <a:tailEnd type="none" w="sm" len="sm"/>
          </a:ln>
        </p:spPr>
      </p:sp>
      <p:sp>
        <p:nvSpPr>
          <p:cNvPr id="16" name="AutoShape 16">
            <a:extLst>
              <a:ext uri="{FF2B5EF4-FFF2-40B4-BE49-F238E27FC236}">
                <a16:creationId xmlns:a16="http://schemas.microsoft.com/office/drawing/2014/main" id="{10D23D93-695A-E183-8A48-EC45BCBDA3B2}"/>
              </a:ext>
            </a:extLst>
          </p:cNvPr>
          <p:cNvSpPr/>
          <p:nvPr/>
        </p:nvSpPr>
        <p:spPr>
          <a:xfrm>
            <a:off x="-1368634" y="-1307396"/>
            <a:ext cx="3359235" cy="3359235"/>
          </a:xfrm>
          <a:prstGeom prst="line">
            <a:avLst/>
          </a:prstGeom>
          <a:ln w="28575" cap="flat">
            <a:solidFill>
              <a:srgbClr val="8CA9AD"/>
            </a:solidFill>
            <a:prstDash val="solid"/>
            <a:headEnd type="none" w="sm" len="sm"/>
            <a:tailEnd type="none" w="sm" len="sm"/>
          </a:ln>
        </p:spPr>
      </p:sp>
      <p:sp>
        <p:nvSpPr>
          <p:cNvPr id="17" name="AutoShape 17">
            <a:extLst>
              <a:ext uri="{FF2B5EF4-FFF2-40B4-BE49-F238E27FC236}">
                <a16:creationId xmlns:a16="http://schemas.microsoft.com/office/drawing/2014/main" id="{09ADB977-4F8E-2CA2-DF2C-FA9216D4DF0C}"/>
              </a:ext>
            </a:extLst>
          </p:cNvPr>
          <p:cNvSpPr/>
          <p:nvPr/>
        </p:nvSpPr>
        <p:spPr>
          <a:xfrm>
            <a:off x="-1488369" y="-1068417"/>
            <a:ext cx="3244761" cy="3244761"/>
          </a:xfrm>
          <a:prstGeom prst="line">
            <a:avLst/>
          </a:prstGeom>
          <a:ln w="28575" cap="flat">
            <a:solidFill>
              <a:srgbClr val="8CA9AD"/>
            </a:solidFill>
            <a:prstDash val="solid"/>
            <a:headEnd type="none" w="sm" len="sm"/>
            <a:tailEnd type="none" w="sm" len="sm"/>
          </a:ln>
        </p:spPr>
      </p:sp>
      <p:sp>
        <p:nvSpPr>
          <p:cNvPr id="18" name="AutoShape 18">
            <a:extLst>
              <a:ext uri="{FF2B5EF4-FFF2-40B4-BE49-F238E27FC236}">
                <a16:creationId xmlns:a16="http://schemas.microsoft.com/office/drawing/2014/main" id="{E750FEB1-032C-E839-52E5-D1CAD2B8B2AD}"/>
              </a:ext>
            </a:extLst>
          </p:cNvPr>
          <p:cNvSpPr/>
          <p:nvPr/>
        </p:nvSpPr>
        <p:spPr>
          <a:xfrm>
            <a:off x="-1572805" y="-810904"/>
            <a:ext cx="3127010" cy="3127010"/>
          </a:xfrm>
          <a:prstGeom prst="line">
            <a:avLst/>
          </a:prstGeom>
          <a:ln w="28575" cap="flat">
            <a:solidFill>
              <a:srgbClr val="8CA9AD"/>
            </a:solidFill>
            <a:prstDash val="solid"/>
            <a:headEnd type="none" w="sm" len="sm"/>
            <a:tailEnd type="none" w="sm" len="sm"/>
          </a:ln>
        </p:spPr>
      </p:sp>
      <p:sp>
        <p:nvSpPr>
          <p:cNvPr id="19" name="AutoShape 19">
            <a:extLst>
              <a:ext uri="{FF2B5EF4-FFF2-40B4-BE49-F238E27FC236}">
                <a16:creationId xmlns:a16="http://schemas.microsoft.com/office/drawing/2014/main" id="{A9FAF869-AE3B-A633-813E-519199CF1B4E}"/>
              </a:ext>
            </a:extLst>
          </p:cNvPr>
          <p:cNvSpPr/>
          <p:nvPr/>
        </p:nvSpPr>
        <p:spPr>
          <a:xfrm>
            <a:off x="-1668708" y="-517787"/>
            <a:ext cx="2898449" cy="2898449"/>
          </a:xfrm>
          <a:prstGeom prst="line">
            <a:avLst/>
          </a:prstGeom>
          <a:ln w="28575" cap="flat">
            <a:solidFill>
              <a:srgbClr val="8CA9AD"/>
            </a:solidFill>
            <a:prstDash val="solid"/>
            <a:headEnd type="none" w="sm" len="sm"/>
            <a:tailEnd type="none" w="sm" len="sm"/>
          </a:ln>
        </p:spPr>
      </p:sp>
      <p:sp>
        <p:nvSpPr>
          <p:cNvPr id="20" name="AutoShape 20">
            <a:extLst>
              <a:ext uri="{FF2B5EF4-FFF2-40B4-BE49-F238E27FC236}">
                <a16:creationId xmlns:a16="http://schemas.microsoft.com/office/drawing/2014/main" id="{C0DEE69E-5991-6284-86BA-DB0E66AA4B52}"/>
              </a:ext>
            </a:extLst>
          </p:cNvPr>
          <p:cNvSpPr/>
          <p:nvPr/>
        </p:nvSpPr>
        <p:spPr>
          <a:xfrm>
            <a:off x="-1749254" y="-221972"/>
            <a:ext cx="2642399" cy="2657063"/>
          </a:xfrm>
          <a:prstGeom prst="line">
            <a:avLst/>
          </a:prstGeom>
          <a:ln w="28575" cap="flat">
            <a:solidFill>
              <a:srgbClr val="8CA9AD"/>
            </a:solidFill>
            <a:prstDash val="solid"/>
            <a:headEnd type="none" w="sm" len="sm"/>
            <a:tailEnd type="none" w="sm" len="sm"/>
          </a:ln>
        </p:spPr>
      </p:sp>
      <p:sp>
        <p:nvSpPr>
          <p:cNvPr id="21" name="AutoShape 21">
            <a:extLst>
              <a:ext uri="{FF2B5EF4-FFF2-40B4-BE49-F238E27FC236}">
                <a16:creationId xmlns:a16="http://schemas.microsoft.com/office/drawing/2014/main" id="{235BB366-A025-2748-7CAD-D624D20B2928}"/>
              </a:ext>
            </a:extLst>
          </p:cNvPr>
          <p:cNvSpPr/>
          <p:nvPr/>
        </p:nvSpPr>
        <p:spPr>
          <a:xfrm>
            <a:off x="-1732076" y="152451"/>
            <a:ext cx="2251657" cy="2240039"/>
          </a:xfrm>
          <a:prstGeom prst="line">
            <a:avLst/>
          </a:prstGeom>
          <a:ln w="28575" cap="flat">
            <a:solidFill>
              <a:srgbClr val="8CA9AD"/>
            </a:solidFill>
            <a:prstDash val="solid"/>
            <a:headEnd type="none" w="sm" len="sm"/>
            <a:tailEnd type="none" w="sm" len="sm"/>
          </a:ln>
        </p:spPr>
      </p:sp>
      <p:sp>
        <p:nvSpPr>
          <p:cNvPr id="22" name="AutoShape 22">
            <a:extLst>
              <a:ext uri="{FF2B5EF4-FFF2-40B4-BE49-F238E27FC236}">
                <a16:creationId xmlns:a16="http://schemas.microsoft.com/office/drawing/2014/main" id="{517EF316-3624-B89F-1025-CD4BF5DE37D3}"/>
              </a:ext>
            </a:extLst>
          </p:cNvPr>
          <p:cNvSpPr/>
          <p:nvPr/>
        </p:nvSpPr>
        <p:spPr>
          <a:xfrm>
            <a:off x="-1673198" y="603840"/>
            <a:ext cx="1752399" cy="1781313"/>
          </a:xfrm>
          <a:prstGeom prst="line">
            <a:avLst/>
          </a:prstGeom>
          <a:ln w="28575" cap="flat">
            <a:solidFill>
              <a:srgbClr val="8CA9AD"/>
            </a:solidFill>
            <a:prstDash val="solid"/>
            <a:headEnd type="none" w="sm" len="sm"/>
            <a:tailEnd type="none" w="sm" len="sm"/>
          </a:ln>
        </p:spPr>
      </p:sp>
      <p:sp>
        <p:nvSpPr>
          <p:cNvPr id="23" name="Freeform 23">
            <a:extLst>
              <a:ext uri="{FF2B5EF4-FFF2-40B4-BE49-F238E27FC236}">
                <a16:creationId xmlns:a16="http://schemas.microsoft.com/office/drawing/2014/main" id="{1DAE888E-FB6E-B3B3-8977-864191175BD5}"/>
              </a:ext>
            </a:extLst>
          </p:cNvPr>
          <p:cNvSpPr/>
          <p:nvPr/>
        </p:nvSpPr>
        <p:spPr>
          <a:xfrm>
            <a:off x="11469461" y="-36739"/>
            <a:ext cx="722539" cy="72253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4" name="Freeform 24">
            <a:extLst>
              <a:ext uri="{FF2B5EF4-FFF2-40B4-BE49-F238E27FC236}">
                <a16:creationId xmlns:a16="http://schemas.microsoft.com/office/drawing/2014/main" id="{D52EDDB1-6260-C7AA-937F-D16A574FDCE1}"/>
              </a:ext>
            </a:extLst>
          </p:cNvPr>
          <p:cNvSpPr/>
          <p:nvPr/>
        </p:nvSpPr>
        <p:spPr>
          <a:xfrm>
            <a:off x="11336743" y="5437693"/>
            <a:ext cx="722539" cy="72253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5" name="Freeform 25">
            <a:extLst>
              <a:ext uri="{FF2B5EF4-FFF2-40B4-BE49-F238E27FC236}">
                <a16:creationId xmlns:a16="http://schemas.microsoft.com/office/drawing/2014/main" id="{C8D0C0B0-17E3-0625-7D9D-B8FB4A9B9E81}"/>
              </a:ext>
            </a:extLst>
          </p:cNvPr>
          <p:cNvSpPr/>
          <p:nvPr/>
        </p:nvSpPr>
        <p:spPr>
          <a:xfrm rot="5400000">
            <a:off x="685801" y="-36739"/>
            <a:ext cx="722539" cy="72253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6" name="Freeform 26">
            <a:extLst>
              <a:ext uri="{FF2B5EF4-FFF2-40B4-BE49-F238E27FC236}">
                <a16:creationId xmlns:a16="http://schemas.microsoft.com/office/drawing/2014/main" id="{8397BF53-4CBA-7153-D690-2E61E6BE5748}"/>
              </a:ext>
            </a:extLst>
          </p:cNvPr>
          <p:cNvSpPr/>
          <p:nvPr/>
        </p:nvSpPr>
        <p:spPr>
          <a:xfrm>
            <a:off x="11773139" y="129458"/>
            <a:ext cx="722539" cy="72253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27" name="Freeform 27">
            <a:extLst>
              <a:ext uri="{FF2B5EF4-FFF2-40B4-BE49-F238E27FC236}">
                <a16:creationId xmlns:a16="http://schemas.microsoft.com/office/drawing/2014/main" id="{D13A465A-BE1B-0B8A-44E9-6F73CC02DC28}"/>
              </a:ext>
            </a:extLst>
          </p:cNvPr>
          <p:cNvSpPr/>
          <p:nvPr/>
        </p:nvSpPr>
        <p:spPr>
          <a:xfrm rot="5400000" flipH="1" flipV="1">
            <a:off x="11506201" y="685801"/>
            <a:ext cx="722539" cy="72253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a:extLst>
                <a:ext uri="{96DAC541-7B7A-43D3-8B79-37D633B846F1}">
                  <asvg:svgBlip xmlns:asvg="http://schemas.microsoft.com/office/drawing/2016/SVG/main" r:embed="rId4"/>
                </a:ext>
              </a:extLst>
            </a:blip>
            <a:stretch>
              <a:fillRect/>
            </a:stretch>
          </a:blipFill>
        </p:spPr>
      </p:sp>
      <p:sp>
        <p:nvSpPr>
          <p:cNvPr id="28" name="Freeform 28">
            <a:extLst>
              <a:ext uri="{FF2B5EF4-FFF2-40B4-BE49-F238E27FC236}">
                <a16:creationId xmlns:a16="http://schemas.microsoft.com/office/drawing/2014/main" id="{EFFB21AE-2F4E-538B-75CE-0EF5B189685C}"/>
              </a:ext>
            </a:extLst>
          </p:cNvPr>
          <p:cNvSpPr/>
          <p:nvPr/>
        </p:nvSpPr>
        <p:spPr>
          <a:xfrm rot="-10800000">
            <a:off x="685801" y="666751"/>
            <a:ext cx="722539" cy="72253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9" name="Freeform 29">
            <a:extLst>
              <a:ext uri="{FF2B5EF4-FFF2-40B4-BE49-F238E27FC236}">
                <a16:creationId xmlns:a16="http://schemas.microsoft.com/office/drawing/2014/main" id="{BC37DF0C-839D-8B36-D709-5E71AEEC4C3E}"/>
              </a:ext>
            </a:extLst>
          </p:cNvPr>
          <p:cNvSpPr/>
          <p:nvPr/>
        </p:nvSpPr>
        <p:spPr>
          <a:xfrm rot="5400000" flipH="1" flipV="1">
            <a:off x="-36739" y="603841"/>
            <a:ext cx="722539" cy="72253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a:extLst>
                <a:ext uri="{96DAC541-7B7A-43D3-8B79-37D633B846F1}">
                  <asvg:svgBlip xmlns:asvg="http://schemas.microsoft.com/office/drawing/2016/SVG/main" r:embed="rId3"/>
                </a:ext>
              </a:extLst>
            </a:blip>
            <a:stretch>
              <a:fillRect/>
            </a:stretch>
          </a:blipFill>
        </p:spPr>
      </p:sp>
      <p:sp>
        <p:nvSpPr>
          <p:cNvPr id="30" name="Freeform 30">
            <a:extLst>
              <a:ext uri="{FF2B5EF4-FFF2-40B4-BE49-F238E27FC236}">
                <a16:creationId xmlns:a16="http://schemas.microsoft.com/office/drawing/2014/main" id="{4BAA60C6-A33F-7CF5-F440-22E2550F2332}"/>
              </a:ext>
            </a:extLst>
          </p:cNvPr>
          <p:cNvSpPr/>
          <p:nvPr/>
        </p:nvSpPr>
        <p:spPr>
          <a:xfrm rot="-10800000" flipH="1" flipV="1">
            <a:off x="-36739" y="-55789"/>
            <a:ext cx="722539" cy="722539"/>
          </a:xfrm>
          <a:custGeom>
            <a:avLst/>
            <a:gdLst/>
            <a:ahLst/>
            <a:cxnLst/>
            <a:rect l="l" t="t" r="r" b="b"/>
            <a:pathLst>
              <a:path w="1083809" h="1083809">
                <a:moveTo>
                  <a:pt x="1083809" y="1083809"/>
                </a:moveTo>
                <a:lnTo>
                  <a:pt x="0" y="1083809"/>
                </a:lnTo>
                <a:lnTo>
                  <a:pt x="0" y="0"/>
                </a:lnTo>
                <a:lnTo>
                  <a:pt x="1083809" y="0"/>
                </a:lnTo>
                <a:lnTo>
                  <a:pt x="1083809" y="1083809"/>
                </a:lnTo>
                <a:close/>
              </a:path>
            </a:pathLst>
          </a:custGeom>
          <a:blipFill>
            <a:blip>
              <a:extLst>
                <a:ext uri="{96DAC541-7B7A-43D3-8B79-37D633B846F1}">
                  <asvg:svgBlip xmlns:asvg="http://schemas.microsoft.com/office/drawing/2016/SVG/main" r:embed="rId4"/>
                </a:ext>
              </a:extLst>
            </a:blip>
            <a:stretch>
              <a:fillRect/>
            </a:stretch>
          </a:blipFill>
        </p:spPr>
      </p:sp>
      <p:sp>
        <p:nvSpPr>
          <p:cNvPr id="31" name="Freeform 31">
            <a:extLst>
              <a:ext uri="{FF2B5EF4-FFF2-40B4-BE49-F238E27FC236}">
                <a16:creationId xmlns:a16="http://schemas.microsoft.com/office/drawing/2014/main" id="{D6BB6A50-9D97-F071-8B31-92D180518979}"/>
              </a:ext>
            </a:extLst>
          </p:cNvPr>
          <p:cNvSpPr/>
          <p:nvPr/>
        </p:nvSpPr>
        <p:spPr>
          <a:xfrm>
            <a:off x="11830731" y="560677"/>
            <a:ext cx="722539" cy="722539"/>
          </a:xfrm>
          <a:custGeom>
            <a:avLst/>
            <a:gdLst/>
            <a:ahLst/>
            <a:cxnLst/>
            <a:rect l="l" t="t" r="r" b="b"/>
            <a:pathLst>
              <a:path w="1083809" h="1083809">
                <a:moveTo>
                  <a:pt x="0" y="0"/>
                </a:moveTo>
                <a:lnTo>
                  <a:pt x="1083808" y="0"/>
                </a:lnTo>
                <a:lnTo>
                  <a:pt x="1083808" y="1083809"/>
                </a:lnTo>
                <a:lnTo>
                  <a:pt x="0" y="108380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2" name="Freeform 32">
            <a:extLst>
              <a:ext uri="{FF2B5EF4-FFF2-40B4-BE49-F238E27FC236}">
                <a16:creationId xmlns:a16="http://schemas.microsoft.com/office/drawing/2014/main" id="{5DA245D9-0573-BC97-BA03-F690751A1012}"/>
              </a:ext>
            </a:extLst>
          </p:cNvPr>
          <p:cNvSpPr/>
          <p:nvPr/>
        </p:nvSpPr>
        <p:spPr>
          <a:xfrm>
            <a:off x="1" y="5437693"/>
            <a:ext cx="722539" cy="72253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3" name="Freeform 33">
            <a:extLst>
              <a:ext uri="{FF2B5EF4-FFF2-40B4-BE49-F238E27FC236}">
                <a16:creationId xmlns:a16="http://schemas.microsoft.com/office/drawing/2014/main" id="{28B0D89B-BF97-7BD3-C594-F180A77BC68D}"/>
              </a:ext>
            </a:extLst>
          </p:cNvPr>
          <p:cNvSpPr/>
          <p:nvPr/>
        </p:nvSpPr>
        <p:spPr>
          <a:xfrm rot="-10800000">
            <a:off x="1" y="6160233"/>
            <a:ext cx="722539" cy="72253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4" name="Freeform 34">
            <a:extLst>
              <a:ext uri="{FF2B5EF4-FFF2-40B4-BE49-F238E27FC236}">
                <a16:creationId xmlns:a16="http://schemas.microsoft.com/office/drawing/2014/main" id="{0C2B6F9B-791D-2BFB-7CCE-76D3A1193D76}"/>
              </a:ext>
            </a:extLst>
          </p:cNvPr>
          <p:cNvSpPr/>
          <p:nvPr/>
        </p:nvSpPr>
        <p:spPr>
          <a:xfrm rot="-5400000">
            <a:off x="10614204" y="5443335"/>
            <a:ext cx="722539" cy="72253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5" name="Freeform 35">
            <a:extLst>
              <a:ext uri="{FF2B5EF4-FFF2-40B4-BE49-F238E27FC236}">
                <a16:creationId xmlns:a16="http://schemas.microsoft.com/office/drawing/2014/main" id="{ADF4C4AF-2351-1F95-FEAC-B50E04140459}"/>
              </a:ext>
            </a:extLst>
          </p:cNvPr>
          <p:cNvSpPr/>
          <p:nvPr/>
        </p:nvSpPr>
        <p:spPr>
          <a:xfrm rot="-10800000">
            <a:off x="10614204" y="6135461"/>
            <a:ext cx="722539" cy="72253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36" name="Freeform 36">
            <a:extLst>
              <a:ext uri="{FF2B5EF4-FFF2-40B4-BE49-F238E27FC236}">
                <a16:creationId xmlns:a16="http://schemas.microsoft.com/office/drawing/2014/main" id="{6819C788-3BB1-51CE-EC72-17CB69DD0923}"/>
              </a:ext>
            </a:extLst>
          </p:cNvPr>
          <p:cNvSpPr/>
          <p:nvPr/>
        </p:nvSpPr>
        <p:spPr>
          <a:xfrm rot="5400000">
            <a:off x="11336743" y="6135461"/>
            <a:ext cx="722539" cy="722539"/>
          </a:xfrm>
          <a:custGeom>
            <a:avLst/>
            <a:gdLst/>
            <a:ahLst/>
            <a:cxnLst/>
            <a:rect l="l" t="t" r="r" b="b"/>
            <a:pathLst>
              <a:path w="1083809" h="1083809">
                <a:moveTo>
                  <a:pt x="0" y="0"/>
                </a:moveTo>
                <a:lnTo>
                  <a:pt x="1083809" y="0"/>
                </a:lnTo>
                <a:lnTo>
                  <a:pt x="1083809" y="1083809"/>
                </a:lnTo>
                <a:lnTo>
                  <a:pt x="0" y="1083809"/>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7" name="Freeform 4">
            <a:extLst>
              <a:ext uri="{FF2B5EF4-FFF2-40B4-BE49-F238E27FC236}">
                <a16:creationId xmlns:a16="http://schemas.microsoft.com/office/drawing/2014/main" id="{EC83DD6D-C7AE-1AB6-555A-1C250D817C34}"/>
              </a:ext>
            </a:extLst>
          </p:cNvPr>
          <p:cNvSpPr/>
          <p:nvPr/>
        </p:nvSpPr>
        <p:spPr>
          <a:xfrm>
            <a:off x="10816060" y="5892052"/>
            <a:ext cx="1334118" cy="953261"/>
          </a:xfrm>
          <a:custGeom>
            <a:avLst/>
            <a:gdLst/>
            <a:ahLst/>
            <a:cxnLst/>
            <a:rect l="l" t="t" r="r" b="b"/>
            <a:pathLst>
              <a:path w="17987676" h="1976792">
                <a:moveTo>
                  <a:pt x="0" y="0"/>
                </a:moveTo>
                <a:lnTo>
                  <a:pt x="17987676" y="0"/>
                </a:lnTo>
                <a:lnTo>
                  <a:pt x="17987676" y="1976792"/>
                </a:lnTo>
                <a:lnTo>
                  <a:pt x="0" y="1976792"/>
                </a:lnTo>
                <a:lnTo>
                  <a:pt x="0" y="0"/>
                </a:lnTo>
                <a:close/>
              </a:path>
            </a:pathLst>
          </a:custGeom>
          <a:blipFill>
            <a:blip r:embed="rId6"/>
            <a:stretch>
              <a:fillRect l="-636332" t="-3636" b="-15051"/>
            </a:stretch>
          </a:blipFill>
        </p:spPr>
      </p:sp>
      <p:sp>
        <p:nvSpPr>
          <p:cNvPr id="99" name="ContentBox 99"/>
          <p:cNvSpPr txBox="1"/>
          <p:nvPr/>
        </p:nvSpPr>
        <p:spPr>
          <a:xfrm>
            <a:off x="206478" y="1300000"/>
            <a:ext cx="11729883" cy="4331763"/>
          </a:xfrm>
          <a:prstGeom prst="rect">
            <a:avLst/>
          </a:prstGeom>
          <a:noFill/>
        </p:spPr>
        <p:txBody>
          <a:bodyPr wrap="square" rtlCol="0">
            <a:spAutoFit/>
          </a:bodyPr>
          <a:lstStyle/>
          <a:p>
            <a:pPr marL="228600" indent="-228600">
              <a:lnSpc>
                <a:spcPct val="150000"/>
              </a:lnSpc>
              <a:spcBef>
                <a:spcPts val="200"/>
              </a:spcBef>
            </a:pPr>
            <a:r>
              <a:rPr lang="en-US" sz="1400" b="1" dirty="0">
                <a:solidFill>
                  <a:srgbClr val="227C9D"/>
                </a:solidFill>
                <a:latin typeface="Times New Roman"/>
              </a:rPr>
              <a:t>Background</a:t>
            </a:r>
          </a:p>
          <a:p>
            <a:pPr marL="342900" indent="-342900">
              <a:lnSpc>
                <a:spcPct val="150000"/>
              </a:lnSpc>
              <a:buChar char="•"/>
            </a:pPr>
            <a:r>
              <a:rPr lang="en-US" sz="1400" dirty="0">
                <a:solidFill>
                  <a:srgbClr val="000000"/>
                </a:solidFill>
                <a:latin typeface="Times New Roman"/>
              </a:rPr>
              <a:t>Social media users unknowingly expose sensitive personal information — faces, license plates, identity documents, house numbers, and personal text — in publicly shared images and videos.</a:t>
            </a:r>
          </a:p>
          <a:p>
            <a:pPr marL="228600" indent="-228600">
              <a:lnSpc>
                <a:spcPct val="150000"/>
              </a:lnSpc>
              <a:spcBef>
                <a:spcPts val="200"/>
              </a:spcBef>
            </a:pPr>
            <a:r>
              <a:rPr lang="en-US" sz="1400" b="1" dirty="0">
                <a:solidFill>
                  <a:srgbClr val="227C9D"/>
                </a:solidFill>
                <a:latin typeface="Times New Roman"/>
              </a:rPr>
              <a:t>Core Problem</a:t>
            </a:r>
          </a:p>
          <a:p>
            <a:pPr marL="342900" indent="-342900">
              <a:lnSpc>
                <a:spcPct val="150000"/>
              </a:lnSpc>
              <a:buChar char="•"/>
            </a:pPr>
            <a:r>
              <a:rPr lang="en-US" sz="1400" dirty="0">
                <a:solidFill>
                  <a:srgbClr val="000000"/>
                </a:solidFill>
                <a:latin typeface="Times New Roman"/>
              </a:rPr>
              <a:t>Traditional privacy tools apply blanket blurring to all detected objects, degrading image quality and removing important visual context that users want to preserve.</a:t>
            </a:r>
          </a:p>
          <a:p>
            <a:pPr marL="342900" indent="-342900">
              <a:lnSpc>
                <a:spcPct val="150000"/>
              </a:lnSpc>
              <a:buChar char="•"/>
            </a:pPr>
            <a:r>
              <a:rPr lang="en-US" sz="1400" dirty="0">
                <a:solidFill>
                  <a:srgbClr val="000000"/>
                </a:solidFill>
                <a:latin typeface="Times New Roman"/>
              </a:rPr>
              <a:t>Existing systems lack context-awareness: they blur regardless of whether the face is the main subject, a background person, or even an image on a poster.</a:t>
            </a:r>
          </a:p>
          <a:p>
            <a:pPr marL="228600" indent="-228600">
              <a:lnSpc>
                <a:spcPct val="150000"/>
              </a:lnSpc>
              <a:spcBef>
                <a:spcPts val="200"/>
              </a:spcBef>
            </a:pPr>
            <a:r>
              <a:rPr lang="en-US" sz="1400" b="1" dirty="0">
                <a:solidFill>
                  <a:srgbClr val="227C9D"/>
                </a:solidFill>
                <a:latin typeface="Times New Roman"/>
              </a:rPr>
              <a:t>Research Gap</a:t>
            </a:r>
          </a:p>
          <a:p>
            <a:pPr marL="342900" indent="-342900">
              <a:lnSpc>
                <a:spcPct val="150000"/>
              </a:lnSpc>
              <a:buChar char="•"/>
            </a:pPr>
            <a:r>
              <a:rPr lang="en-US" sz="1400" dirty="0">
                <a:solidFill>
                  <a:srgbClr val="000000"/>
                </a:solidFill>
                <a:latin typeface="Times New Roman"/>
              </a:rPr>
              <a:t>No current system combines context-aware selective anonymization with Privacy Risk Scoring, user-controlled rules, and local privacy-first processing in a single unified pipeline.</a:t>
            </a:r>
          </a:p>
          <a:p>
            <a:pPr marL="228600" indent="-228600">
              <a:lnSpc>
                <a:spcPct val="150000"/>
              </a:lnSpc>
              <a:spcBef>
                <a:spcPts val="200"/>
              </a:spcBef>
            </a:pPr>
            <a:r>
              <a:rPr lang="en-US" sz="1400" b="1" dirty="0">
                <a:solidFill>
                  <a:srgbClr val="227C9D"/>
                </a:solidFill>
                <a:latin typeface="Times New Roman"/>
              </a:rPr>
              <a:t>Proposed Solution</a:t>
            </a:r>
          </a:p>
          <a:p>
            <a:pPr marL="342900" indent="-342900">
              <a:lnSpc>
                <a:spcPct val="150000"/>
              </a:lnSpc>
              <a:buChar char="•"/>
            </a:pPr>
            <a:r>
              <a:rPr lang="en-US" sz="1400" dirty="0">
                <a:solidFill>
                  <a:srgbClr val="000000"/>
                </a:solidFill>
                <a:latin typeface="Times New Roman"/>
              </a:rPr>
              <a:t>The Social Media Privacy Guard system uses deep learning (YOLOv8, CNN, OCR) to detect sensitive objects and intelligently anonymizes only relevant background elements, preserving the primary subject of the image while generating a measurable Privacy Risk Score (0-100).</a:t>
            </a:r>
          </a:p>
        </p:txBody>
      </p:sp>
    </p:spTree>
    <p:extLst>
      <p:ext uri="{BB962C8B-B14F-4D97-AF65-F5344CB8AC3E}">
        <p14:creationId xmlns:p14="http://schemas.microsoft.com/office/powerpoint/2010/main" val="1594940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70551" y="220256"/>
            <a:ext cx="8101780" cy="607886"/>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Literature Survey</a:t>
            </a:r>
          </a:p>
        </p:txBody>
      </p:sp>
      <p:graphicFrame>
        <p:nvGraphicFramePr>
          <p:cNvPr id="2" name="Table 1"/>
          <p:cNvGraphicFramePr>
            <a:graphicFrameLocks noGrp="1"/>
          </p:cNvGraphicFramePr>
          <p:nvPr>
            <p:extLst>
              <p:ext uri="{D42A27DB-BD31-4B8C-83A1-F6EECF244321}">
                <p14:modId xmlns:p14="http://schemas.microsoft.com/office/powerpoint/2010/main" val="1804748669"/>
              </p:ext>
            </p:extLst>
          </p:nvPr>
        </p:nvGraphicFramePr>
        <p:xfrm>
          <a:off x="180000" y="820000"/>
          <a:ext cx="11702883" cy="5700000"/>
        </p:xfrm>
        <a:graphic>
          <a:graphicData uri="http://schemas.openxmlformats.org/drawingml/2006/table">
            <a:tbl>
              <a:tblPr firstRow="1" bandRow="1">
                <a:tableStyleId>{5C22544A-7EE6-4342-B048-85BDC9FD1C3A}</a:tableStyleId>
              </a:tblPr>
              <a:tblGrid>
                <a:gridCol w="500731">
                  <a:extLst>
                    <a:ext uri="{9D8B030D-6E8A-4147-A177-3AD203B41FA5}">
                      <a16:colId xmlns:a16="http://schemas.microsoft.com/office/drawing/2014/main" val="20000"/>
                    </a:ext>
                  </a:extLst>
                </a:gridCol>
                <a:gridCol w="1700084">
                  <a:extLst>
                    <a:ext uri="{9D8B030D-6E8A-4147-A177-3AD203B41FA5}">
                      <a16:colId xmlns:a16="http://schemas.microsoft.com/office/drawing/2014/main" val="20001"/>
                    </a:ext>
                  </a:extLst>
                </a:gridCol>
                <a:gridCol w="2100277">
                  <a:extLst>
                    <a:ext uri="{9D8B030D-6E8A-4147-A177-3AD203B41FA5}">
                      <a16:colId xmlns:a16="http://schemas.microsoft.com/office/drawing/2014/main" val="20002"/>
                    </a:ext>
                  </a:extLst>
                </a:gridCol>
                <a:gridCol w="1900245">
                  <a:extLst>
                    <a:ext uri="{9D8B030D-6E8A-4147-A177-3AD203B41FA5}">
                      <a16:colId xmlns:a16="http://schemas.microsoft.com/office/drawing/2014/main" val="20003"/>
                    </a:ext>
                  </a:extLst>
                </a:gridCol>
                <a:gridCol w="1700150">
                  <a:extLst>
                    <a:ext uri="{9D8B030D-6E8A-4147-A177-3AD203B41FA5}">
                      <a16:colId xmlns:a16="http://schemas.microsoft.com/office/drawing/2014/main" val="20004"/>
                    </a:ext>
                  </a:extLst>
                </a:gridCol>
                <a:gridCol w="1900698">
                  <a:extLst>
                    <a:ext uri="{9D8B030D-6E8A-4147-A177-3AD203B41FA5}">
                      <a16:colId xmlns:a16="http://schemas.microsoft.com/office/drawing/2014/main" val="20005"/>
                    </a:ext>
                  </a:extLst>
                </a:gridCol>
                <a:gridCol w="1900698">
                  <a:extLst>
                    <a:ext uri="{9D8B030D-6E8A-4147-A177-3AD203B41FA5}">
                      <a16:colId xmlns:a16="http://schemas.microsoft.com/office/drawing/2014/main" val="20006"/>
                    </a:ext>
                  </a:extLst>
                </a:gridCol>
              </a:tblGrid>
              <a:tr h="700000">
                <a:tc>
                  <a:txBody>
                    <a:bodyPr/>
                    <a:lstStyle/>
                    <a:p>
                      <a:pPr algn="ctr"/>
                      <a:r>
                        <a:rPr lang="en-IN" sz="1200" b="1" dirty="0">
                          <a:latin typeface="Times New Roman" panose="02020603050405020304" pitchFamily="18" charset="0"/>
                          <a:cs typeface="Times New Roman" panose="02020603050405020304" pitchFamily="18" charset="0"/>
                        </a:rPr>
                        <a:t>Sl</a:t>
                      </a:r>
                    </a:p>
                    <a:p>
                      <a:pPr algn="ctr"/>
                      <a:r>
                        <a:rPr lang="en-IN" sz="1200" b="1" dirty="0">
                          <a:latin typeface="Times New Roman" panose="02020603050405020304" pitchFamily="18" charset="0"/>
                          <a:cs typeface="Times New Roman" panose="02020603050405020304" pitchFamily="18" charset="0"/>
                        </a:rPr>
                        <a:t>No.</a:t>
                      </a:r>
                    </a:p>
                  </a:txBody>
                  <a:tcPr>
                    <a:solidFill>
                      <a:srgbClr val="1F3864"/>
                    </a:solidFill>
                  </a:tcPr>
                </a:tc>
                <a:tc>
                  <a:txBody>
                    <a:bodyPr/>
                    <a:lstStyle/>
                    <a:p>
                      <a:pPr algn="ctr"/>
                      <a:r>
                        <a:rPr lang="en-IN" sz="1200" b="1" dirty="0">
                          <a:latin typeface="Times New Roman" panose="02020603050405020304" pitchFamily="18" charset="0"/>
                          <a:cs typeface="Times New Roman" panose="02020603050405020304" pitchFamily="18" charset="0"/>
                        </a:rPr>
                        <a:t>Author &amp;</a:t>
                      </a:r>
                    </a:p>
                    <a:p>
                      <a:pPr algn="ctr"/>
                      <a:r>
                        <a:rPr lang="en-IN" sz="1200" b="1" dirty="0">
                          <a:latin typeface="Times New Roman" panose="02020603050405020304" pitchFamily="18" charset="0"/>
                          <a:cs typeface="Times New Roman" panose="02020603050405020304" pitchFamily="18" charset="0"/>
                        </a:rPr>
                        <a:t>Year</a:t>
                      </a:r>
                    </a:p>
                  </a:txBody>
                  <a:tcPr>
                    <a:solidFill>
                      <a:srgbClr val="1F3864"/>
                    </a:solidFill>
                  </a:tcPr>
                </a:tc>
                <a:tc>
                  <a:txBody>
                    <a:bodyPr/>
                    <a:lstStyle/>
                    <a:p>
                      <a:pPr algn="ctr"/>
                      <a:r>
                        <a:rPr lang="en-IN" sz="1200" b="1" dirty="0">
                          <a:latin typeface="Times New Roman" panose="02020603050405020304" pitchFamily="18" charset="0"/>
                          <a:cs typeface="Times New Roman" panose="02020603050405020304" pitchFamily="18" charset="0"/>
                        </a:rPr>
                        <a:t>Paper Title</a:t>
                      </a:r>
                    </a:p>
                  </a:txBody>
                  <a:tcPr>
                    <a:solidFill>
                      <a:srgbClr val="1F3864"/>
                    </a:solidFill>
                  </a:tcPr>
                </a:tc>
                <a:tc>
                  <a:txBody>
                    <a:bodyPr/>
                    <a:lstStyle/>
                    <a:p>
                      <a:pPr algn="ctr"/>
                      <a:r>
                        <a:rPr lang="en-IN" sz="1200" b="1" dirty="0">
                          <a:latin typeface="Times New Roman" panose="02020603050405020304" pitchFamily="18" charset="0"/>
                          <a:cs typeface="Times New Roman" panose="02020603050405020304" pitchFamily="18" charset="0"/>
                        </a:rPr>
                        <a:t>Methodology</a:t>
                      </a:r>
                    </a:p>
                    <a:p>
                      <a:pPr algn="ctr"/>
                      <a:r>
                        <a:rPr lang="en-IN" sz="1200" b="1" dirty="0">
                          <a:latin typeface="Times New Roman" panose="02020603050405020304" pitchFamily="18" charset="0"/>
                          <a:cs typeface="Times New Roman" panose="02020603050405020304" pitchFamily="18" charset="0"/>
                        </a:rPr>
                        <a:t>Used</a:t>
                      </a:r>
                    </a:p>
                  </a:txBody>
                  <a:tcPr>
                    <a:solidFill>
                      <a:srgbClr val="1F3864"/>
                    </a:solidFill>
                  </a:tcPr>
                </a:tc>
                <a:tc>
                  <a:txBody>
                    <a:bodyPr/>
                    <a:lstStyle/>
                    <a:p>
                      <a:pPr algn="ctr"/>
                      <a:r>
                        <a:rPr lang="en-IN" sz="1200" b="1" dirty="0">
                          <a:latin typeface="Times New Roman" panose="02020603050405020304" pitchFamily="18" charset="0"/>
                          <a:cs typeface="Times New Roman" panose="02020603050405020304" pitchFamily="18" charset="0"/>
                        </a:rPr>
                        <a:t>Problem</a:t>
                      </a:r>
                    </a:p>
                    <a:p>
                      <a:pPr algn="ctr"/>
                      <a:r>
                        <a:rPr lang="en-IN" sz="1200" b="1" dirty="0">
                          <a:latin typeface="Times New Roman" panose="02020603050405020304" pitchFamily="18" charset="0"/>
                          <a:cs typeface="Times New Roman" panose="02020603050405020304" pitchFamily="18" charset="0"/>
                        </a:rPr>
                        <a:t>Solved</a:t>
                      </a:r>
                    </a:p>
                  </a:txBody>
                  <a:tcPr>
                    <a:solidFill>
                      <a:srgbClr val="1F3864"/>
                    </a:solidFill>
                  </a:tcPr>
                </a:tc>
                <a:tc>
                  <a:txBody>
                    <a:bodyPr/>
                    <a:lstStyle/>
                    <a:p>
                      <a:pPr algn="ctr"/>
                      <a:r>
                        <a:rPr lang="en-IN" sz="1200" b="1" dirty="0">
                          <a:latin typeface="Times New Roman" panose="02020603050405020304" pitchFamily="18" charset="0"/>
                          <a:cs typeface="Times New Roman" panose="02020603050405020304" pitchFamily="18" charset="0"/>
                        </a:rPr>
                        <a:t>Advantages</a:t>
                      </a:r>
                    </a:p>
                  </a:txBody>
                  <a:tcPr>
                    <a:solidFill>
                      <a:srgbClr val="1F3864"/>
                    </a:solidFill>
                  </a:tcPr>
                </a:tc>
                <a:tc>
                  <a:txBody>
                    <a:bodyPr/>
                    <a:lstStyle/>
                    <a:p>
                      <a:pPr algn="ctr"/>
                      <a:r>
                        <a:rPr lang="en-IN" sz="1200" b="1" dirty="0">
                          <a:latin typeface="Times New Roman" panose="02020603050405020304" pitchFamily="18" charset="0"/>
                          <a:cs typeface="Times New Roman" panose="02020603050405020304" pitchFamily="18" charset="0"/>
                        </a:rPr>
                        <a:t>Inference and</a:t>
                      </a:r>
                    </a:p>
                    <a:p>
                      <a:pPr algn="ctr"/>
                      <a:r>
                        <a:rPr lang="en-IN" sz="1200" b="1" dirty="0">
                          <a:latin typeface="Times New Roman" panose="02020603050405020304" pitchFamily="18" charset="0"/>
                          <a:cs typeface="Times New Roman" panose="02020603050405020304" pitchFamily="18" charset="0"/>
                        </a:rPr>
                        <a:t>Limitations</a:t>
                      </a:r>
                    </a:p>
                  </a:txBody>
                  <a:tcPr>
                    <a:solidFill>
                      <a:srgbClr val="1F3864"/>
                    </a:solidFill>
                  </a:tcPr>
                </a:tc>
                <a:extLst>
                  <a:ext uri="{0D108BD9-81ED-4DB2-BD59-A6C34878D82A}">
                    <a16:rowId xmlns:a16="http://schemas.microsoft.com/office/drawing/2014/main" val="10000"/>
                  </a:ext>
                </a:extLst>
              </a:tr>
              <a:tr h="1000000">
                <a:tc>
                  <a:txBody>
                    <a:bodyPr/>
                    <a:lstStyle/>
                    <a:p>
                      <a:pPr algn="ctr"/>
                      <a:r>
                        <a:rPr lang="en-IN" sz="1100" dirty="0">
                          <a:latin typeface="Times New Roman" panose="02020603050405020304" pitchFamily="18" charset="0"/>
                          <a:cs typeface="Times New Roman" panose="02020603050405020304" pitchFamily="18" charset="0"/>
                        </a:rPr>
                        <a:t>1.</a:t>
                      </a:r>
                    </a:p>
                  </a:txBody>
                  <a:tcPr/>
                </a:tc>
                <a:tc>
                  <a:txBody>
                    <a:bodyPr/>
                    <a:lstStyle/>
                    <a:p>
                      <a:pPr algn="ctr"/>
                      <a:r>
                        <a:rPr lang="en-IN" sz="1050" dirty="0">
                          <a:latin typeface="Times New Roman" panose="02020603050405020304" pitchFamily="18" charset="0"/>
                          <a:cs typeface="Times New Roman" panose="02020603050405020304" pitchFamily="18" charset="0"/>
                        </a:rPr>
                        <a:t>H. Kung et al.</a:t>
                      </a:r>
                    </a:p>
                    <a:p>
                      <a:pPr algn="ctr"/>
                      <a:r>
                        <a:rPr lang="en-IN" sz="1050" dirty="0">
                          <a:latin typeface="Times New Roman" panose="02020603050405020304" pitchFamily="18" charset="0"/>
                          <a:cs typeface="Times New Roman" panose="02020603050405020304" pitchFamily="18" charset="0"/>
                        </a:rPr>
                        <a:t>(2025)</a:t>
                      </a:r>
                    </a:p>
                    <a:p>
                      <a:pPr algn="ctr"/>
                      <a:r>
                        <a:rPr lang="en-IN" sz="1050" dirty="0">
                          <a:latin typeface="Times New Roman" panose="02020603050405020304" pitchFamily="18" charset="0"/>
                          <a:cs typeface="Times New Roman" panose="02020603050405020304" pitchFamily="18" charset="0"/>
                        </a:rPr>
                        <a:t>IEEE WACV</a:t>
                      </a:r>
                    </a:p>
                  </a:txBody>
                  <a:tcPr/>
                </a:tc>
                <a:tc>
                  <a:txBody>
                    <a:bodyPr/>
                    <a:lstStyle/>
                    <a:p>
                      <a:pPr algn="l"/>
                      <a:r>
                        <a:rPr lang="en-IN" sz="1050" dirty="0">
                          <a:latin typeface="Times New Roman" panose="02020603050405020304" pitchFamily="18" charset="0"/>
                          <a:cs typeface="Times New Roman" panose="02020603050405020304" pitchFamily="18" charset="0"/>
                        </a:rPr>
                        <a:t>Face Anonymization Made Simple</a:t>
                      </a:r>
                    </a:p>
                  </a:txBody>
                  <a:tcPr/>
                </a:tc>
                <a:tc>
                  <a:txBody>
                    <a:bodyPr/>
                    <a:lstStyle/>
                    <a:p>
                      <a:pPr algn="l"/>
                      <a:r>
                        <a:rPr lang="en-IN" sz="1050" dirty="0">
                          <a:latin typeface="Times New Roman" panose="02020603050405020304" pitchFamily="18" charset="0"/>
                          <a:cs typeface="Times New Roman" panose="02020603050405020304" pitchFamily="18" charset="0"/>
                        </a:rPr>
                        <a:t>Diffusion-based face replacement preserving expression, gaze, and pose while altering identity</a:t>
                      </a:r>
                    </a:p>
                  </a:txBody>
                  <a:tcPr/>
                </a:tc>
                <a:tc>
                  <a:txBody>
                    <a:bodyPr/>
                    <a:lstStyle/>
                    <a:p>
                      <a:pPr algn="l"/>
                      <a:r>
                        <a:rPr lang="en-IN" sz="1050" dirty="0">
                          <a:latin typeface="Times New Roman" panose="02020603050405020304" pitchFamily="18" charset="0"/>
                          <a:cs typeface="Times New Roman" panose="02020603050405020304" pitchFamily="18" charset="0"/>
                        </a:rPr>
                        <a:t>Simplified but powerful face anonymization resistant to modern re-identification attacks</a:t>
                      </a:r>
                    </a:p>
                  </a:txBody>
                  <a:tcPr/>
                </a:tc>
                <a:tc>
                  <a:txBody>
                    <a:bodyPr/>
                    <a:lstStyle/>
                    <a:p>
                      <a:pPr algn="l"/>
                      <a:r>
                        <a:rPr lang="en-IN" sz="1050" dirty="0">
                          <a:latin typeface="Times New Roman" panose="02020603050405020304" pitchFamily="18" charset="0"/>
                          <a:cs typeface="Times New Roman" panose="02020603050405020304" pitchFamily="18" charset="0"/>
                        </a:rPr>
                        <a:t>Preserves emotional expressiveness; resists re-identification; minimal training needed</a:t>
                      </a:r>
                    </a:p>
                  </a:txBody>
                  <a:tcPr/>
                </a:tc>
                <a:tc>
                  <a:txBody>
                    <a:bodyPr/>
                    <a:lstStyle/>
                    <a:p>
                      <a:pPr algn="l"/>
                      <a:r>
                        <a:rPr lang="en-IN" sz="1050" dirty="0">
                          <a:latin typeface="Times New Roman" panose="02020603050405020304" pitchFamily="18" charset="0"/>
                          <a:cs typeface="Times New Roman" panose="02020603050405020304" pitchFamily="18" charset="0"/>
                        </a:rPr>
                        <a:t>Slower inference per image than blur; requires diffusion model compute resources</a:t>
                      </a:r>
                    </a:p>
                  </a:txBody>
                  <a:tcPr/>
                </a:tc>
                <a:extLst>
                  <a:ext uri="{0D108BD9-81ED-4DB2-BD59-A6C34878D82A}">
                    <a16:rowId xmlns:a16="http://schemas.microsoft.com/office/drawing/2014/main" val="10001"/>
                  </a:ext>
                </a:extLst>
              </a:tr>
              <a:tr h="1000000">
                <a:tc>
                  <a:txBody>
                    <a:bodyPr/>
                    <a:lstStyle/>
                    <a:p>
                      <a:pPr algn="ctr"/>
                      <a:r>
                        <a:rPr lang="en-IN" sz="1100" dirty="0">
                          <a:latin typeface="Times New Roman" panose="02020603050405020304" pitchFamily="18" charset="0"/>
                          <a:cs typeface="Times New Roman" panose="02020603050405020304" pitchFamily="18" charset="0"/>
                        </a:rPr>
                        <a:t>2.</a:t>
                      </a:r>
                    </a:p>
                  </a:txBody>
                  <a:tcPr/>
                </a:tc>
                <a:tc>
                  <a:txBody>
                    <a:bodyPr/>
                    <a:lstStyle/>
                    <a:p>
                      <a:pPr algn="ctr"/>
                      <a:r>
                        <a:rPr lang="en-IN" sz="1050" dirty="0">
                          <a:latin typeface="Times New Roman" panose="02020603050405020304" pitchFamily="18" charset="0"/>
                          <a:cs typeface="Times New Roman" panose="02020603050405020304" pitchFamily="18" charset="0"/>
                        </a:rPr>
                        <a:t>H. Yang et al.</a:t>
                      </a:r>
                    </a:p>
                    <a:p>
                      <a:pPr algn="ctr"/>
                      <a:r>
                        <a:rPr lang="en-IN" sz="1050" dirty="0">
                          <a:latin typeface="Times New Roman" panose="02020603050405020304" pitchFamily="18" charset="0"/>
                          <a:cs typeface="Times New Roman" panose="02020603050405020304" pitchFamily="18" charset="0"/>
                        </a:rPr>
                        <a:t>(2024)</a:t>
                      </a:r>
                    </a:p>
                    <a:p>
                      <a:pPr algn="ctr"/>
                      <a:r>
                        <a:rPr lang="en-IN" sz="1050" dirty="0">
                          <a:latin typeface="Times New Roman" panose="02020603050405020304" pitchFamily="18" charset="0"/>
                          <a:cs typeface="Times New Roman" panose="02020603050405020304" pitchFamily="18" charset="0"/>
                        </a:rPr>
                        <a:t>IEEE Trans. IFS</a:t>
                      </a:r>
                    </a:p>
                  </a:txBody>
                  <a:tcPr/>
                </a:tc>
                <a:tc>
                  <a:txBody>
                    <a:bodyPr/>
                    <a:lstStyle/>
                    <a:p>
                      <a:pPr algn="l"/>
                      <a:r>
                        <a:rPr lang="en-IN" sz="1050" dirty="0">
                          <a:latin typeface="Times New Roman" panose="02020603050405020304" pitchFamily="18" charset="0"/>
                          <a:cs typeface="Times New Roman" panose="02020603050405020304" pitchFamily="18" charset="0"/>
                        </a:rPr>
                        <a:t>G2Face: High-Fidelity Reversible Face Anonymization via Generative and Geometric Priors</a:t>
                      </a:r>
                    </a:p>
                  </a:txBody>
                  <a:tcPr/>
                </a:tc>
                <a:tc>
                  <a:txBody>
                    <a:bodyPr/>
                    <a:lstStyle/>
                    <a:p>
                      <a:pPr algn="l"/>
                      <a:r>
                        <a:rPr lang="en-IN" sz="1050" dirty="0">
                          <a:latin typeface="Times New Roman" panose="02020603050405020304" pitchFamily="18" charset="0"/>
                          <a:cs typeface="Times New Roman" panose="02020603050405020304" pitchFamily="18" charset="0"/>
                        </a:rPr>
                        <a:t>GAN combining generative priors and 3D geometric priors for reversible face anonymization</a:t>
                      </a:r>
                    </a:p>
                  </a:txBody>
                  <a:tcPr/>
                </a:tc>
                <a:tc>
                  <a:txBody>
                    <a:bodyPr/>
                    <a:lstStyle/>
                    <a:p>
                      <a:pPr algn="l"/>
                      <a:r>
                        <a:rPr lang="en-IN" sz="1050" dirty="0">
                          <a:latin typeface="Times New Roman" panose="02020603050405020304" pitchFamily="18" charset="0"/>
                          <a:cs typeface="Times New Roman" panose="02020603050405020304" pitchFamily="18" charset="0"/>
                        </a:rPr>
                        <a:t>High-quality face replacement that is both privacy-preserving and visually realistic</a:t>
                      </a:r>
                    </a:p>
                  </a:txBody>
                  <a:tcPr/>
                </a:tc>
                <a:tc>
                  <a:txBody>
                    <a:bodyPr/>
                    <a:lstStyle/>
                    <a:p>
                      <a:pPr algn="l"/>
                      <a:r>
                        <a:rPr lang="en-IN" sz="1050" dirty="0">
                          <a:latin typeface="Times New Roman" panose="02020603050405020304" pitchFamily="18" charset="0"/>
                          <a:cs typeface="Times New Roman" panose="02020603050405020304" pitchFamily="18" charset="0"/>
                        </a:rPr>
                        <a:t>Reversible for authorized access; superior clarity over blur/pixelation methods</a:t>
                      </a:r>
                    </a:p>
                  </a:txBody>
                  <a:tcPr/>
                </a:tc>
                <a:tc>
                  <a:txBody>
                    <a:bodyPr/>
                    <a:lstStyle/>
                    <a:p>
                      <a:pPr algn="l"/>
                      <a:r>
                        <a:rPr lang="en-IN" sz="1050" dirty="0">
                          <a:latin typeface="Times New Roman" panose="02020603050405020304" pitchFamily="18" charset="0"/>
                          <a:cs typeface="Times New Roman" panose="02020603050405020304" pitchFamily="18" charset="0"/>
                        </a:rPr>
                        <a:t>Complex training pipeline; not suitable for real-time or edge device deployment</a:t>
                      </a:r>
                    </a:p>
                  </a:txBody>
                  <a:tcPr/>
                </a:tc>
                <a:extLst>
                  <a:ext uri="{0D108BD9-81ED-4DB2-BD59-A6C34878D82A}">
                    <a16:rowId xmlns:a16="http://schemas.microsoft.com/office/drawing/2014/main" val="10002"/>
                  </a:ext>
                </a:extLst>
              </a:tr>
              <a:tr h="1000000">
                <a:tc>
                  <a:txBody>
                    <a:bodyPr/>
                    <a:lstStyle/>
                    <a:p>
                      <a:pPr algn="ctr"/>
                      <a:r>
                        <a:rPr lang="en-IN" sz="1100" dirty="0">
                          <a:latin typeface="Times New Roman" panose="02020603050405020304" pitchFamily="18" charset="0"/>
                          <a:cs typeface="Times New Roman" panose="02020603050405020304" pitchFamily="18" charset="0"/>
                        </a:rPr>
                        <a:t>3.</a:t>
                      </a:r>
                    </a:p>
                  </a:txBody>
                  <a:tcPr/>
                </a:tc>
                <a:tc>
                  <a:txBody>
                    <a:bodyPr/>
                    <a:lstStyle/>
                    <a:p>
                      <a:pPr algn="ctr"/>
                      <a:r>
                        <a:rPr lang="en-IN" sz="1050" dirty="0">
                          <a:latin typeface="Times New Roman" panose="02020603050405020304" pitchFamily="18" charset="0"/>
                          <a:cs typeface="Times New Roman" panose="02020603050405020304" pitchFamily="18" charset="0"/>
                        </a:rPr>
                        <a:t>G. Jocher et al.</a:t>
                      </a:r>
                    </a:p>
                    <a:p>
                      <a:pPr algn="ctr"/>
                      <a:r>
                        <a:rPr lang="en-IN" sz="1050" dirty="0">
                          <a:latin typeface="Times New Roman" panose="02020603050405020304" pitchFamily="18" charset="0"/>
                          <a:cs typeface="Times New Roman" panose="02020603050405020304" pitchFamily="18" charset="0"/>
                        </a:rPr>
                        <a:t>(2023)</a:t>
                      </a:r>
                    </a:p>
                    <a:p>
                      <a:pPr algn="ctr"/>
                      <a:r>
                        <a:rPr lang="en-IN" sz="1050" dirty="0">
                          <a:latin typeface="Times New Roman" panose="02020603050405020304" pitchFamily="18" charset="0"/>
                          <a:cs typeface="Times New Roman" panose="02020603050405020304" pitchFamily="18" charset="0"/>
                        </a:rPr>
                        <a:t>Ultralytics</a:t>
                      </a:r>
                    </a:p>
                  </a:txBody>
                  <a:tcPr/>
                </a:tc>
                <a:tc>
                  <a:txBody>
                    <a:bodyPr/>
                    <a:lstStyle/>
                    <a:p>
                      <a:pPr algn="l"/>
                      <a:r>
                        <a:rPr lang="en-IN" sz="1050" dirty="0">
                          <a:latin typeface="Times New Roman" panose="02020603050405020304" pitchFamily="18" charset="0"/>
                          <a:cs typeface="Times New Roman" panose="02020603050405020304" pitchFamily="18" charset="0"/>
                        </a:rPr>
                        <a:t>Ultralytics YOLOv8: Real-Time Object Detection, Segmentation and Classification</a:t>
                      </a:r>
                    </a:p>
                  </a:txBody>
                  <a:tcPr/>
                </a:tc>
                <a:tc>
                  <a:txBody>
                    <a:bodyPr/>
                    <a:lstStyle/>
                    <a:p>
                      <a:pPr algn="l"/>
                      <a:r>
                        <a:rPr lang="en-IN" sz="1050" dirty="0">
                          <a:latin typeface="Times New Roman" panose="02020603050405020304" pitchFamily="18" charset="0"/>
                          <a:cs typeface="Times New Roman" panose="02020603050405020304" pitchFamily="18" charset="0"/>
                        </a:rPr>
                        <a:t>Anchor-free multi-task architecture: detection, segmentation, and pose estimation in one model</a:t>
                      </a:r>
                    </a:p>
                  </a:txBody>
                  <a:tcPr/>
                </a:tc>
                <a:tc>
                  <a:txBody>
                    <a:bodyPr/>
                    <a:lstStyle/>
                    <a:p>
                      <a:pPr algn="l"/>
                      <a:r>
                        <a:rPr lang="en-IN" sz="1050" dirty="0">
                          <a:latin typeface="Times New Roman" panose="02020603050405020304" pitchFamily="18" charset="0"/>
                          <a:cs typeface="Times New Roman" panose="02020603050405020304" pitchFamily="18" charset="0"/>
                        </a:rPr>
                        <a:t>Unified real-time framework for object detection and face detection in privacy systems</a:t>
                      </a:r>
                    </a:p>
                  </a:txBody>
                  <a:tcPr/>
                </a:tc>
                <a:tc>
                  <a:txBody>
                    <a:bodyPr/>
                    <a:lstStyle/>
                    <a:p>
                      <a:pPr algn="l"/>
                      <a:r>
                        <a:rPr lang="en-IN" sz="1050" dirty="0">
                          <a:latin typeface="Times New Roman" panose="02020603050405020304" pitchFamily="18" charset="0"/>
                          <a:cs typeface="Times New Roman" panose="02020603050405020304" pitchFamily="18" charset="0"/>
                        </a:rPr>
                        <a:t>Best accuracy-speed tradeoff; Python API; multi-task in a single model architecture</a:t>
                      </a:r>
                    </a:p>
                  </a:txBody>
                  <a:tcPr/>
                </a:tc>
                <a:tc>
                  <a:txBody>
                    <a:bodyPr/>
                    <a:lstStyle/>
                    <a:p>
                      <a:pPr algn="l"/>
                      <a:r>
                        <a:rPr lang="en-IN" sz="1050" dirty="0">
                          <a:latin typeface="Times New Roman" panose="02020603050405020304" pitchFamily="18" charset="0"/>
                          <a:cs typeface="Times New Roman" panose="02020603050405020304" pitchFamily="18" charset="0"/>
                        </a:rPr>
                        <a:t>Newer architecture with limited formal peer-reviewed benchmarks; compute-heavy for edge</a:t>
                      </a:r>
                    </a:p>
                  </a:txBody>
                  <a:tcPr/>
                </a:tc>
                <a:extLst>
                  <a:ext uri="{0D108BD9-81ED-4DB2-BD59-A6C34878D82A}">
                    <a16:rowId xmlns:a16="http://schemas.microsoft.com/office/drawing/2014/main" val="10003"/>
                  </a:ext>
                </a:extLst>
              </a:tr>
              <a:tr h="1000000">
                <a:tc>
                  <a:txBody>
                    <a:bodyPr/>
                    <a:lstStyle/>
                    <a:p>
                      <a:pPr algn="ctr"/>
                      <a:r>
                        <a:rPr lang="en-IN" sz="1100" dirty="0">
                          <a:latin typeface="Times New Roman" panose="02020603050405020304" pitchFamily="18" charset="0"/>
                          <a:cs typeface="Times New Roman" panose="02020603050405020304" pitchFamily="18" charset="0"/>
                        </a:rPr>
                        <a:t>4.</a:t>
                      </a:r>
                    </a:p>
                  </a:txBody>
                  <a:tcPr/>
                </a:tc>
                <a:tc>
                  <a:txBody>
                    <a:bodyPr/>
                    <a:lstStyle/>
                    <a:p>
                      <a:pPr algn="ctr"/>
                      <a:r>
                        <a:rPr lang="nl-NL" sz="1050" dirty="0">
                          <a:latin typeface="Times New Roman" panose="02020603050405020304" pitchFamily="18" charset="0"/>
                          <a:cs typeface="Times New Roman" panose="02020603050405020304" pitchFamily="18" charset="0"/>
                        </a:rPr>
                        <a:t>H. Hukkelås &amp; F. Lindseth (2023) IEEE WACV</a:t>
                      </a:r>
                      <a:endParaRPr lang="en-IN" sz="1050" dirty="0">
                        <a:latin typeface="Times New Roman" panose="02020603050405020304" pitchFamily="18" charset="0"/>
                        <a:cs typeface="Times New Roman" panose="02020603050405020304" pitchFamily="18" charset="0"/>
                      </a:endParaRPr>
                    </a:p>
                  </a:txBody>
                  <a:tcPr/>
                </a:tc>
                <a:tc>
                  <a:txBody>
                    <a:bodyPr/>
                    <a:lstStyle/>
                    <a:p>
                      <a:pPr algn="l"/>
                      <a:r>
                        <a:rPr lang="en-IN" sz="1050" dirty="0">
                          <a:latin typeface="Times New Roman" panose="02020603050405020304" pitchFamily="18" charset="0"/>
                          <a:cs typeface="Times New Roman" panose="02020603050405020304" pitchFamily="18" charset="0"/>
                        </a:rPr>
                        <a:t>DeepPrivacy2: Towards Realistic Full-Body Anonymization</a:t>
                      </a:r>
                    </a:p>
                  </a:txBody>
                  <a:tcPr/>
                </a:tc>
                <a:tc>
                  <a:txBody>
                    <a:bodyPr/>
                    <a:lstStyle/>
                    <a:p>
                      <a:pPr algn="l"/>
                      <a:r>
                        <a:rPr lang="en-IN" sz="1050" dirty="0">
                          <a:latin typeface="Times New Roman" panose="02020603050405020304" pitchFamily="18" charset="0"/>
                          <a:cs typeface="Times New Roman" panose="02020603050405020304" pitchFamily="18" charset="0"/>
                        </a:rPr>
                        <a:t>Style-based GAN with Continuous Surface Embeddings (CSE) for full-body face &amp; body anonymization</a:t>
                      </a:r>
                    </a:p>
                  </a:txBody>
                  <a:tcPr/>
                </a:tc>
                <a:tc>
                  <a:txBody>
                    <a:bodyPr/>
                    <a:lstStyle/>
                    <a:p>
                      <a:pPr algn="l"/>
                      <a:r>
                        <a:rPr lang="en-IN" sz="1050" dirty="0">
                          <a:latin typeface="Times New Roman" panose="02020603050405020304" pitchFamily="18" charset="0"/>
                          <a:cs typeface="Times New Roman" panose="02020603050405020304" pitchFamily="18" charset="0"/>
                        </a:rPr>
                        <a:t>Realistic anonymization of full human figures beyond face-only blurring in social images</a:t>
                      </a:r>
                    </a:p>
                  </a:txBody>
                  <a:tcPr/>
                </a:tc>
                <a:tc>
                  <a:txBody>
                    <a:bodyPr/>
                    <a:lstStyle/>
                    <a:p>
                      <a:pPr algn="l"/>
                      <a:r>
                        <a:rPr lang="en-IN" sz="1050" dirty="0">
                          <a:latin typeface="Times New Roman" panose="02020603050405020304" pitchFamily="18" charset="0"/>
                          <a:cs typeface="Times New Roman" panose="02020603050405020304" pitchFamily="18" charset="0"/>
                        </a:rPr>
                        <a:t>Stronger privacy guarantees; high image quality; editable diverse anonymized outputs</a:t>
                      </a:r>
                    </a:p>
                  </a:txBody>
                  <a:tcPr/>
                </a:tc>
                <a:tc>
                  <a:txBody>
                    <a:bodyPr/>
                    <a:lstStyle/>
                    <a:p>
                      <a:pPr algn="l"/>
                      <a:r>
                        <a:rPr lang="en-IN" sz="1050" dirty="0">
                          <a:latin typeface="Times New Roman" panose="02020603050405020304" pitchFamily="18" charset="0"/>
                          <a:cs typeface="Times New Roman" panose="02020603050405020304" pitchFamily="18" charset="0"/>
                        </a:rPr>
                        <a:t>Computationally expensive; requires pose estimation and dense surface embeddings at runtime</a:t>
                      </a:r>
                    </a:p>
                  </a:txBody>
                  <a:tcPr/>
                </a:tc>
                <a:extLst>
                  <a:ext uri="{0D108BD9-81ED-4DB2-BD59-A6C34878D82A}">
                    <a16:rowId xmlns:a16="http://schemas.microsoft.com/office/drawing/2014/main" val="10004"/>
                  </a:ext>
                </a:extLst>
              </a:tr>
              <a:tr h="1000000">
                <a:tc>
                  <a:txBody>
                    <a:bodyPr/>
                    <a:lstStyle/>
                    <a:p>
                      <a:pPr algn="ctr"/>
                      <a:r>
                        <a:rPr lang="en-IN" sz="1100" dirty="0">
                          <a:latin typeface="Times New Roman" panose="02020603050405020304" pitchFamily="18" charset="0"/>
                          <a:cs typeface="Times New Roman" panose="02020603050405020304" pitchFamily="18" charset="0"/>
                        </a:rPr>
                        <a:t>5.</a:t>
                      </a:r>
                    </a:p>
                  </a:txBody>
                  <a:tcPr/>
                </a:tc>
                <a:tc>
                  <a:txBody>
                    <a:bodyPr/>
                    <a:lstStyle/>
                    <a:p>
                      <a:pPr algn="ctr"/>
                      <a:r>
                        <a:rPr lang="en-IN" sz="1050" dirty="0">
                          <a:latin typeface="Times New Roman" panose="02020603050405020304" pitchFamily="18" charset="0"/>
                          <a:cs typeface="Times New Roman" panose="02020603050405020304" pitchFamily="18" charset="0"/>
                        </a:rPr>
                        <a:t>D. Qi et al.</a:t>
                      </a:r>
                    </a:p>
                    <a:p>
                      <a:pPr algn="ctr"/>
                      <a:r>
                        <a:rPr lang="en-IN" sz="1050" dirty="0">
                          <a:latin typeface="Times New Roman" panose="02020603050405020304" pitchFamily="18" charset="0"/>
                          <a:cs typeface="Times New Roman" panose="02020603050405020304" pitchFamily="18" charset="0"/>
                        </a:rPr>
                        <a:t>(2021)</a:t>
                      </a:r>
                    </a:p>
                    <a:p>
                      <a:pPr algn="ctr"/>
                      <a:r>
                        <a:rPr lang="en-IN" sz="1050" dirty="0">
                          <a:latin typeface="Times New Roman" panose="02020603050405020304" pitchFamily="18" charset="0"/>
                          <a:cs typeface="Times New Roman" panose="02020603050405020304" pitchFamily="18" charset="0"/>
                        </a:rPr>
                        <a:t>ArXiv/IEEE</a:t>
                      </a:r>
                    </a:p>
                  </a:txBody>
                  <a:tcPr/>
                </a:tc>
                <a:tc>
                  <a:txBody>
                    <a:bodyPr/>
                    <a:lstStyle/>
                    <a:p>
                      <a:pPr algn="l"/>
                      <a:r>
                        <a:rPr lang="en-IN" sz="1050" dirty="0">
                          <a:latin typeface="Times New Roman" panose="02020603050405020304" pitchFamily="18" charset="0"/>
                          <a:cs typeface="Times New Roman" panose="02020603050405020304" pitchFamily="18" charset="0"/>
                        </a:rPr>
                        <a:t>YOLO5Face: Why Reinventing a Face Detector</a:t>
                      </a:r>
                    </a:p>
                  </a:txBody>
                  <a:tcPr/>
                </a:tc>
                <a:tc>
                  <a:txBody>
                    <a:bodyPr/>
                    <a:lstStyle/>
                    <a:p>
                      <a:pPr algn="l"/>
                      <a:r>
                        <a:rPr lang="en-IN" sz="1050" dirty="0">
                          <a:latin typeface="Times New Roman" panose="02020603050405020304" pitchFamily="18" charset="0"/>
                          <a:cs typeface="Times New Roman" panose="02020603050405020304" pitchFamily="18" charset="0"/>
                        </a:rPr>
                        <a:t>YOLOv5 fine-tuned for multi-scale face detection with 5-point landmark regression head</a:t>
                      </a:r>
                    </a:p>
                  </a:txBody>
                  <a:tcPr/>
                </a:tc>
                <a:tc>
                  <a:txBody>
                    <a:bodyPr/>
                    <a:lstStyle/>
                    <a:p>
                      <a:pPr algn="l"/>
                      <a:r>
                        <a:rPr lang="en-IN" sz="1050" dirty="0">
                          <a:latin typeface="Times New Roman" panose="02020603050405020304" pitchFamily="18" charset="0"/>
                          <a:cs typeface="Times New Roman" panose="02020603050405020304" pitchFamily="18" charset="0"/>
                        </a:rPr>
                        <a:t>High-performance real-time face detection for privacy and surveillance systems</a:t>
                      </a:r>
                    </a:p>
                  </a:txBody>
                  <a:tcPr/>
                </a:tc>
                <a:tc>
                  <a:txBody>
                    <a:bodyPr/>
                    <a:lstStyle/>
                    <a:p>
                      <a:pPr algn="l"/>
                      <a:r>
                        <a:rPr lang="en-IN" sz="1050" dirty="0">
                          <a:latin typeface="Times New Roman" panose="02020603050405020304" pitchFamily="18" charset="0"/>
                          <a:cs typeface="Times New Roman" panose="02020603050405020304" pitchFamily="18" charset="0"/>
                        </a:rPr>
                        <a:t>Lightweight yet accurate; multi-scale FPN; supports tiny and occluded face detection</a:t>
                      </a:r>
                    </a:p>
                  </a:txBody>
                  <a:tcPr/>
                </a:tc>
                <a:tc>
                  <a:txBody>
                    <a:bodyPr/>
                    <a:lstStyle/>
                    <a:p>
                      <a:pPr algn="l"/>
                      <a:r>
                        <a:rPr lang="en-IN" sz="1050" dirty="0">
                          <a:latin typeface="Times New Roman" panose="02020603050405020304" pitchFamily="18" charset="0"/>
                          <a:cs typeface="Times New Roman" panose="02020603050405020304" pitchFamily="18" charset="0"/>
                        </a:rPr>
                        <a:t>Domain-specific fine-tuning required; limited facial landmark precision vs MTCNN</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70551" y="220256"/>
            <a:ext cx="8101780" cy="607886"/>
          </a:xfrm>
          <a:prstGeom prst="rect">
            <a:avLst/>
          </a:prstGeom>
          <a:noFill/>
        </p:spPr>
        <p:txBody>
          <a:bodyPr wrap="square" rtlCol="0">
            <a:spAutoFit/>
          </a:bodyPr>
          <a:lstStyle/>
          <a:p>
            <a:pPr algn="ctr"/>
            <a:r>
              <a:rPr lang="en-IN" sz="3600" b="1" dirty="0">
                <a:latin typeface="Times New Roman" panose="02020603050405020304" pitchFamily="18" charset="0"/>
                <a:cs typeface="Times New Roman" panose="02020603050405020304" pitchFamily="18" charset="0"/>
              </a:rPr>
              <a:t>Literature Survey (Contd.)</a:t>
            </a:r>
          </a:p>
        </p:txBody>
      </p:sp>
      <p:graphicFrame>
        <p:nvGraphicFramePr>
          <p:cNvPr id="2" name="Table 1"/>
          <p:cNvGraphicFramePr>
            <a:graphicFrameLocks noGrp="1"/>
          </p:cNvGraphicFramePr>
          <p:nvPr>
            <p:extLst>
              <p:ext uri="{D42A27DB-BD31-4B8C-83A1-F6EECF244321}">
                <p14:modId xmlns:p14="http://schemas.microsoft.com/office/powerpoint/2010/main" val="4271898773"/>
              </p:ext>
            </p:extLst>
          </p:nvPr>
        </p:nvGraphicFramePr>
        <p:xfrm>
          <a:off x="180000" y="820000"/>
          <a:ext cx="11702883" cy="5700000"/>
        </p:xfrm>
        <a:graphic>
          <a:graphicData uri="http://schemas.openxmlformats.org/drawingml/2006/table">
            <a:tbl>
              <a:tblPr firstRow="1" bandRow="1">
                <a:tableStyleId>{5C22544A-7EE6-4342-B048-85BDC9FD1C3A}</a:tableStyleId>
              </a:tblPr>
              <a:tblGrid>
                <a:gridCol w="500731">
                  <a:extLst>
                    <a:ext uri="{9D8B030D-6E8A-4147-A177-3AD203B41FA5}">
                      <a16:colId xmlns:a16="http://schemas.microsoft.com/office/drawing/2014/main" val="20000"/>
                    </a:ext>
                  </a:extLst>
                </a:gridCol>
                <a:gridCol w="1700084">
                  <a:extLst>
                    <a:ext uri="{9D8B030D-6E8A-4147-A177-3AD203B41FA5}">
                      <a16:colId xmlns:a16="http://schemas.microsoft.com/office/drawing/2014/main" val="20001"/>
                    </a:ext>
                  </a:extLst>
                </a:gridCol>
                <a:gridCol w="2100277">
                  <a:extLst>
                    <a:ext uri="{9D8B030D-6E8A-4147-A177-3AD203B41FA5}">
                      <a16:colId xmlns:a16="http://schemas.microsoft.com/office/drawing/2014/main" val="20002"/>
                    </a:ext>
                  </a:extLst>
                </a:gridCol>
                <a:gridCol w="1900245">
                  <a:extLst>
                    <a:ext uri="{9D8B030D-6E8A-4147-A177-3AD203B41FA5}">
                      <a16:colId xmlns:a16="http://schemas.microsoft.com/office/drawing/2014/main" val="20003"/>
                    </a:ext>
                  </a:extLst>
                </a:gridCol>
                <a:gridCol w="1700150">
                  <a:extLst>
                    <a:ext uri="{9D8B030D-6E8A-4147-A177-3AD203B41FA5}">
                      <a16:colId xmlns:a16="http://schemas.microsoft.com/office/drawing/2014/main" val="20004"/>
                    </a:ext>
                  </a:extLst>
                </a:gridCol>
                <a:gridCol w="1900698">
                  <a:extLst>
                    <a:ext uri="{9D8B030D-6E8A-4147-A177-3AD203B41FA5}">
                      <a16:colId xmlns:a16="http://schemas.microsoft.com/office/drawing/2014/main" val="20005"/>
                    </a:ext>
                  </a:extLst>
                </a:gridCol>
                <a:gridCol w="1900698">
                  <a:extLst>
                    <a:ext uri="{9D8B030D-6E8A-4147-A177-3AD203B41FA5}">
                      <a16:colId xmlns:a16="http://schemas.microsoft.com/office/drawing/2014/main" val="20006"/>
                    </a:ext>
                  </a:extLst>
                </a:gridCol>
              </a:tblGrid>
              <a:tr h="700000">
                <a:tc>
                  <a:txBody>
                    <a:bodyPr/>
                    <a:lstStyle/>
                    <a:p>
                      <a:pPr algn="ctr"/>
                      <a:r>
                        <a:rPr lang="en-IN" sz="1200" b="1" dirty="0">
                          <a:latin typeface="Times New Roman" panose="02020603050405020304" pitchFamily="18" charset="0"/>
                          <a:cs typeface="Times New Roman" panose="02020603050405020304" pitchFamily="18" charset="0"/>
                        </a:rPr>
                        <a:t>Sl</a:t>
                      </a:r>
                    </a:p>
                    <a:p>
                      <a:pPr algn="ctr"/>
                      <a:r>
                        <a:rPr lang="en-IN" sz="1200" b="1" dirty="0">
                          <a:latin typeface="Times New Roman" panose="02020603050405020304" pitchFamily="18" charset="0"/>
                          <a:cs typeface="Times New Roman" panose="02020603050405020304" pitchFamily="18" charset="0"/>
                        </a:rPr>
                        <a:t>No.</a:t>
                      </a:r>
                    </a:p>
                  </a:txBody>
                  <a:tcPr>
                    <a:solidFill>
                      <a:srgbClr val="1F3864"/>
                    </a:solidFill>
                  </a:tcPr>
                </a:tc>
                <a:tc>
                  <a:txBody>
                    <a:bodyPr/>
                    <a:lstStyle/>
                    <a:p>
                      <a:pPr algn="ctr"/>
                      <a:r>
                        <a:rPr lang="en-IN" sz="1200" b="1" dirty="0">
                          <a:latin typeface="Times New Roman" panose="02020603050405020304" pitchFamily="18" charset="0"/>
                          <a:cs typeface="Times New Roman" panose="02020603050405020304" pitchFamily="18" charset="0"/>
                        </a:rPr>
                        <a:t>Author &amp;</a:t>
                      </a:r>
                    </a:p>
                    <a:p>
                      <a:pPr algn="ctr"/>
                      <a:r>
                        <a:rPr lang="en-IN" sz="1200" b="1" dirty="0">
                          <a:latin typeface="Times New Roman" panose="02020603050405020304" pitchFamily="18" charset="0"/>
                          <a:cs typeface="Times New Roman" panose="02020603050405020304" pitchFamily="18" charset="0"/>
                        </a:rPr>
                        <a:t>Year</a:t>
                      </a:r>
                    </a:p>
                  </a:txBody>
                  <a:tcPr>
                    <a:solidFill>
                      <a:srgbClr val="1F3864"/>
                    </a:solidFill>
                  </a:tcPr>
                </a:tc>
                <a:tc>
                  <a:txBody>
                    <a:bodyPr/>
                    <a:lstStyle/>
                    <a:p>
                      <a:pPr algn="ctr"/>
                      <a:r>
                        <a:rPr lang="en-IN" sz="1200" b="1" dirty="0">
                          <a:latin typeface="Times New Roman" panose="02020603050405020304" pitchFamily="18" charset="0"/>
                          <a:cs typeface="Times New Roman" panose="02020603050405020304" pitchFamily="18" charset="0"/>
                        </a:rPr>
                        <a:t>Paper Title</a:t>
                      </a:r>
                    </a:p>
                  </a:txBody>
                  <a:tcPr>
                    <a:solidFill>
                      <a:srgbClr val="1F3864"/>
                    </a:solidFill>
                  </a:tcPr>
                </a:tc>
                <a:tc>
                  <a:txBody>
                    <a:bodyPr/>
                    <a:lstStyle/>
                    <a:p>
                      <a:pPr algn="ctr"/>
                      <a:r>
                        <a:rPr lang="en-IN" sz="1200" b="1" dirty="0">
                          <a:latin typeface="Times New Roman" panose="02020603050405020304" pitchFamily="18" charset="0"/>
                          <a:cs typeface="Times New Roman" panose="02020603050405020304" pitchFamily="18" charset="0"/>
                        </a:rPr>
                        <a:t>Methodology</a:t>
                      </a:r>
                    </a:p>
                    <a:p>
                      <a:pPr algn="ctr"/>
                      <a:r>
                        <a:rPr lang="en-IN" sz="1200" b="1" dirty="0">
                          <a:latin typeface="Times New Roman" panose="02020603050405020304" pitchFamily="18" charset="0"/>
                          <a:cs typeface="Times New Roman" panose="02020603050405020304" pitchFamily="18" charset="0"/>
                        </a:rPr>
                        <a:t>Used</a:t>
                      </a:r>
                    </a:p>
                  </a:txBody>
                  <a:tcPr>
                    <a:solidFill>
                      <a:srgbClr val="1F3864"/>
                    </a:solidFill>
                  </a:tcPr>
                </a:tc>
                <a:tc>
                  <a:txBody>
                    <a:bodyPr/>
                    <a:lstStyle/>
                    <a:p>
                      <a:pPr algn="ctr"/>
                      <a:r>
                        <a:rPr lang="en-IN" sz="1200" b="1" dirty="0">
                          <a:latin typeface="Times New Roman" panose="02020603050405020304" pitchFamily="18" charset="0"/>
                          <a:cs typeface="Times New Roman" panose="02020603050405020304" pitchFamily="18" charset="0"/>
                        </a:rPr>
                        <a:t>Problem</a:t>
                      </a:r>
                    </a:p>
                    <a:p>
                      <a:pPr algn="ctr"/>
                      <a:r>
                        <a:rPr lang="en-IN" sz="1200" b="1" dirty="0">
                          <a:latin typeface="Times New Roman" panose="02020603050405020304" pitchFamily="18" charset="0"/>
                          <a:cs typeface="Times New Roman" panose="02020603050405020304" pitchFamily="18" charset="0"/>
                        </a:rPr>
                        <a:t>Solved</a:t>
                      </a:r>
                    </a:p>
                  </a:txBody>
                  <a:tcPr>
                    <a:solidFill>
                      <a:srgbClr val="1F3864"/>
                    </a:solidFill>
                  </a:tcPr>
                </a:tc>
                <a:tc>
                  <a:txBody>
                    <a:bodyPr/>
                    <a:lstStyle/>
                    <a:p>
                      <a:pPr algn="ctr"/>
                      <a:r>
                        <a:rPr lang="en-IN" sz="1200" b="1" dirty="0">
                          <a:latin typeface="Times New Roman" panose="02020603050405020304" pitchFamily="18" charset="0"/>
                          <a:cs typeface="Times New Roman" panose="02020603050405020304" pitchFamily="18" charset="0"/>
                        </a:rPr>
                        <a:t>Advantages</a:t>
                      </a:r>
                    </a:p>
                  </a:txBody>
                  <a:tcPr>
                    <a:solidFill>
                      <a:srgbClr val="1F3864"/>
                    </a:solidFill>
                  </a:tcPr>
                </a:tc>
                <a:tc>
                  <a:txBody>
                    <a:bodyPr/>
                    <a:lstStyle/>
                    <a:p>
                      <a:pPr algn="ctr"/>
                      <a:r>
                        <a:rPr lang="en-IN" sz="1200" b="1" dirty="0">
                          <a:latin typeface="Times New Roman" panose="02020603050405020304" pitchFamily="18" charset="0"/>
                          <a:cs typeface="Times New Roman" panose="02020603050405020304" pitchFamily="18" charset="0"/>
                        </a:rPr>
                        <a:t>Inference and</a:t>
                      </a:r>
                    </a:p>
                    <a:p>
                      <a:pPr algn="ctr"/>
                      <a:r>
                        <a:rPr lang="en-IN" sz="1200" b="1" dirty="0">
                          <a:latin typeface="Times New Roman" panose="02020603050405020304" pitchFamily="18" charset="0"/>
                          <a:cs typeface="Times New Roman" panose="02020603050405020304" pitchFamily="18" charset="0"/>
                        </a:rPr>
                        <a:t>Limitations</a:t>
                      </a:r>
                    </a:p>
                  </a:txBody>
                  <a:tcPr>
                    <a:solidFill>
                      <a:srgbClr val="1F3864"/>
                    </a:solidFill>
                  </a:tcPr>
                </a:tc>
                <a:extLst>
                  <a:ext uri="{0D108BD9-81ED-4DB2-BD59-A6C34878D82A}">
                    <a16:rowId xmlns:a16="http://schemas.microsoft.com/office/drawing/2014/main" val="10000"/>
                  </a:ext>
                </a:extLst>
              </a:tr>
              <a:tr h="1000000">
                <a:tc>
                  <a:txBody>
                    <a:bodyPr/>
                    <a:lstStyle/>
                    <a:p>
                      <a:pPr algn="ctr"/>
                      <a:r>
                        <a:rPr lang="en-IN" sz="1100" dirty="0">
                          <a:latin typeface="Times New Roman" panose="02020603050405020304" pitchFamily="18" charset="0"/>
                          <a:cs typeface="Times New Roman" panose="02020603050405020304" pitchFamily="18" charset="0"/>
                        </a:rPr>
                        <a:t>6.</a:t>
                      </a:r>
                    </a:p>
                  </a:txBody>
                  <a:tcPr/>
                </a:tc>
                <a:tc>
                  <a:txBody>
                    <a:bodyPr/>
                    <a:lstStyle/>
                    <a:p>
                      <a:pPr algn="ctr"/>
                      <a:r>
                        <a:rPr lang="en-IN" sz="1050" dirty="0">
                          <a:latin typeface="Times New Roman" panose="02020603050405020304" pitchFamily="18" charset="0"/>
                          <a:cs typeface="Times New Roman" panose="02020603050405020304" pitchFamily="18" charset="0"/>
                        </a:rPr>
                        <a:t>D. Ibdah et al.</a:t>
                      </a:r>
                    </a:p>
                    <a:p>
                      <a:pPr algn="ctr"/>
                      <a:r>
                        <a:rPr lang="en-IN" sz="1050" dirty="0">
                          <a:latin typeface="Times New Roman" panose="02020603050405020304" pitchFamily="18" charset="0"/>
                          <a:cs typeface="Times New Roman" panose="02020603050405020304" pitchFamily="18" charset="0"/>
                        </a:rPr>
                        <a:t>(2021)</a:t>
                      </a:r>
                    </a:p>
                    <a:p>
                      <a:pPr algn="ctr"/>
                      <a:r>
                        <a:rPr lang="en-IN" sz="1050" dirty="0">
                          <a:latin typeface="Times New Roman" panose="02020603050405020304" pitchFamily="18" charset="0"/>
                          <a:cs typeface="Times New Roman" panose="02020603050405020304" pitchFamily="18" charset="0"/>
                        </a:rPr>
                        <a:t>IEEE Access</a:t>
                      </a:r>
                    </a:p>
                  </a:txBody>
                  <a:tcPr/>
                </a:tc>
                <a:tc>
                  <a:txBody>
                    <a:bodyPr/>
                    <a:lstStyle/>
                    <a:p>
                      <a:pPr algn="l"/>
                      <a:r>
                        <a:rPr lang="en-IN" sz="1050" dirty="0">
                          <a:latin typeface="Times New Roman" panose="02020603050405020304" pitchFamily="18" charset="0"/>
                          <a:cs typeface="Times New Roman" panose="02020603050405020304" pitchFamily="18" charset="0"/>
                        </a:rPr>
                        <a:t>Why Should I Read the Privacy Policy, I Just Need the Service</a:t>
                      </a:r>
                    </a:p>
                  </a:txBody>
                  <a:tcPr/>
                </a:tc>
                <a:tc>
                  <a:txBody>
                    <a:bodyPr/>
                    <a:lstStyle/>
                    <a:p>
                      <a:pPr algn="l"/>
                      <a:r>
                        <a:rPr lang="en-IN" sz="1050" dirty="0">
                          <a:latin typeface="Times New Roman" panose="02020603050405020304" pitchFamily="18" charset="0"/>
                          <a:cs typeface="Times New Roman" panose="02020603050405020304" pitchFamily="18" charset="0"/>
                        </a:rPr>
                        <a:t>User survey and behavioral analysis of digital privacy attitudes on online platforms</a:t>
                      </a:r>
                    </a:p>
                  </a:txBody>
                  <a:tcPr/>
                </a:tc>
                <a:tc>
                  <a:txBody>
                    <a:bodyPr/>
                    <a:lstStyle/>
                    <a:p>
                      <a:pPr algn="l"/>
                      <a:r>
                        <a:rPr lang="en-IN" sz="1050" dirty="0">
                          <a:latin typeface="Times New Roman" panose="02020603050405020304" pitchFamily="18" charset="0"/>
                          <a:cs typeface="Times New Roman" panose="02020603050405020304" pitchFamily="18" charset="0"/>
                        </a:rPr>
                        <a:t>Reveals the gap between user privacy needs and actual policy comprehension on social media</a:t>
                      </a:r>
                    </a:p>
                  </a:txBody>
                  <a:tcPr/>
                </a:tc>
                <a:tc>
                  <a:txBody>
                    <a:bodyPr/>
                    <a:lstStyle/>
                    <a:p>
                      <a:pPr algn="l"/>
                      <a:r>
                        <a:rPr lang="en-IN" sz="1050" dirty="0">
                          <a:latin typeface="Times New Roman" panose="02020603050405020304" pitchFamily="18" charset="0"/>
                          <a:cs typeface="Times New Roman" panose="02020603050405020304" pitchFamily="18" charset="0"/>
                        </a:rPr>
                        <a:t>Highlights urgent need for automated context-aware privacy tools; large sample study</a:t>
                      </a:r>
                    </a:p>
                  </a:txBody>
                  <a:tcPr/>
                </a:tc>
                <a:tc>
                  <a:txBody>
                    <a:bodyPr/>
                    <a:lstStyle/>
                    <a:p>
                      <a:pPr algn="l"/>
                      <a:r>
                        <a:rPr lang="en-IN" sz="1050" dirty="0">
                          <a:latin typeface="Times New Roman" panose="02020603050405020304" pitchFamily="18" charset="0"/>
                          <a:cs typeface="Times New Roman" panose="02020603050405020304" pitchFamily="18" charset="0"/>
                        </a:rPr>
                        <a:t>Self-reported survey data; limited to policy comprehension, not image-level privacy</a:t>
                      </a:r>
                    </a:p>
                  </a:txBody>
                  <a:tcPr/>
                </a:tc>
                <a:extLst>
                  <a:ext uri="{0D108BD9-81ED-4DB2-BD59-A6C34878D82A}">
                    <a16:rowId xmlns:a16="http://schemas.microsoft.com/office/drawing/2014/main" val="10001"/>
                  </a:ext>
                </a:extLst>
              </a:tr>
              <a:tr h="1000000">
                <a:tc>
                  <a:txBody>
                    <a:bodyPr/>
                    <a:lstStyle/>
                    <a:p>
                      <a:pPr algn="ctr"/>
                      <a:r>
                        <a:rPr lang="en-IN" sz="1100" dirty="0">
                          <a:latin typeface="Times New Roman" panose="02020603050405020304" pitchFamily="18" charset="0"/>
                          <a:cs typeface="Times New Roman" panose="02020603050405020304" pitchFamily="18" charset="0"/>
                        </a:rPr>
                        <a:t>7.</a:t>
                      </a:r>
                    </a:p>
                  </a:txBody>
                  <a:tcPr/>
                </a:tc>
                <a:tc>
                  <a:txBody>
                    <a:bodyPr/>
                    <a:lstStyle/>
                    <a:p>
                      <a:pPr algn="ctr"/>
                      <a:r>
                        <a:rPr lang="en-IN" sz="1050" dirty="0">
                          <a:latin typeface="Times New Roman" panose="02020603050405020304" pitchFamily="18" charset="0"/>
                          <a:cs typeface="Times New Roman" panose="02020603050405020304" pitchFamily="18" charset="0"/>
                        </a:rPr>
                        <a:t>M. Maximov et al.</a:t>
                      </a:r>
                    </a:p>
                    <a:p>
                      <a:pPr algn="ctr"/>
                      <a:r>
                        <a:rPr lang="en-IN" sz="1050" dirty="0">
                          <a:latin typeface="Times New Roman" panose="02020603050405020304" pitchFamily="18" charset="0"/>
                          <a:cs typeface="Times New Roman" panose="02020603050405020304" pitchFamily="18" charset="0"/>
                        </a:rPr>
                        <a:t>(2020)</a:t>
                      </a:r>
                    </a:p>
                    <a:p>
                      <a:pPr algn="ctr"/>
                      <a:r>
                        <a:rPr lang="en-IN" sz="1050" dirty="0">
                          <a:latin typeface="Times New Roman" panose="02020603050405020304" pitchFamily="18" charset="0"/>
                          <a:cs typeface="Times New Roman" panose="02020603050405020304" pitchFamily="18" charset="0"/>
                        </a:rPr>
                        <a:t>IEEE CVPR</a:t>
                      </a:r>
                    </a:p>
                  </a:txBody>
                  <a:tcPr/>
                </a:tc>
                <a:tc>
                  <a:txBody>
                    <a:bodyPr/>
                    <a:lstStyle/>
                    <a:p>
                      <a:pPr algn="l"/>
                      <a:r>
                        <a:rPr lang="en-IN" sz="1050" dirty="0">
                          <a:latin typeface="Times New Roman" panose="02020603050405020304" pitchFamily="18" charset="0"/>
                          <a:cs typeface="Times New Roman" panose="02020603050405020304" pitchFamily="18" charset="0"/>
                        </a:rPr>
                        <a:t>CIAGAN: Conditional Identity Anonymization Generative Adversarial Networks</a:t>
                      </a:r>
                    </a:p>
                  </a:txBody>
                  <a:tcPr/>
                </a:tc>
                <a:tc>
                  <a:txBody>
                    <a:bodyPr/>
                    <a:lstStyle/>
                    <a:p>
                      <a:pPr algn="l"/>
                      <a:r>
                        <a:rPr lang="en-IN" sz="1050" dirty="0">
                          <a:latin typeface="Times New Roman" panose="02020603050405020304" pitchFamily="18" charset="0"/>
                          <a:cs typeface="Times New Roman" panose="02020603050405020304" pitchFamily="18" charset="0"/>
                        </a:rPr>
                        <a:t>Conditional GAN replacing face identity while preserving appearance attributes (pose, expression)</a:t>
                      </a:r>
                    </a:p>
                  </a:txBody>
                  <a:tcPr/>
                </a:tc>
                <a:tc>
                  <a:txBody>
                    <a:bodyPr/>
                    <a:lstStyle/>
                    <a:p>
                      <a:pPr algn="l"/>
                      <a:r>
                        <a:rPr lang="en-IN" sz="1050" dirty="0">
                          <a:latin typeface="Times New Roman" panose="02020603050405020304" pitchFamily="18" charset="0"/>
                          <a:cs typeface="Times New Roman" panose="02020603050405020304" pitchFamily="18" charset="0"/>
                        </a:rPr>
                        <a:t>Anonymizing face images/videos while maintaining utility for downstream detection tasks</a:t>
                      </a:r>
                    </a:p>
                  </a:txBody>
                  <a:tcPr/>
                </a:tc>
                <a:tc>
                  <a:txBody>
                    <a:bodyPr/>
                    <a:lstStyle/>
                    <a:p>
                      <a:pPr algn="l"/>
                      <a:r>
                        <a:rPr lang="en-IN" sz="1050" dirty="0">
                          <a:latin typeface="Times New Roman" panose="02020603050405020304" pitchFamily="18" charset="0"/>
                          <a:cs typeface="Times New Roman" panose="02020603050405020304" pitchFamily="18" charset="0"/>
                        </a:rPr>
                        <a:t>Realistic anonymized output; downstream task performance preserved; no identity leakage</a:t>
                      </a:r>
                    </a:p>
                  </a:txBody>
                  <a:tcPr/>
                </a:tc>
                <a:tc>
                  <a:txBody>
                    <a:bodyPr/>
                    <a:lstStyle/>
                    <a:p>
                      <a:pPr algn="l"/>
                      <a:r>
                        <a:rPr lang="en-IN" sz="1050" dirty="0">
                          <a:latin typeface="Times New Roman" panose="02020603050405020304" pitchFamily="18" charset="0"/>
                          <a:cs typeface="Times New Roman" panose="02020603050405020304" pitchFamily="18" charset="0"/>
                        </a:rPr>
                        <a:t>Limited to face region; GAN training instability; does not handle full-body anonymization</a:t>
                      </a:r>
                    </a:p>
                  </a:txBody>
                  <a:tcPr/>
                </a:tc>
                <a:extLst>
                  <a:ext uri="{0D108BD9-81ED-4DB2-BD59-A6C34878D82A}">
                    <a16:rowId xmlns:a16="http://schemas.microsoft.com/office/drawing/2014/main" val="10002"/>
                  </a:ext>
                </a:extLst>
              </a:tr>
              <a:tr h="1000000">
                <a:tc>
                  <a:txBody>
                    <a:bodyPr/>
                    <a:lstStyle/>
                    <a:p>
                      <a:pPr algn="ctr"/>
                      <a:r>
                        <a:rPr lang="en-IN" sz="1100" dirty="0">
                          <a:latin typeface="Times New Roman" panose="02020603050405020304" pitchFamily="18" charset="0"/>
                          <a:cs typeface="Times New Roman" panose="02020603050405020304" pitchFamily="18" charset="0"/>
                        </a:rPr>
                        <a:t>8.</a:t>
                      </a:r>
                    </a:p>
                  </a:txBody>
                  <a:tcPr/>
                </a:tc>
                <a:tc>
                  <a:txBody>
                    <a:bodyPr/>
                    <a:lstStyle/>
                    <a:p>
                      <a:pPr algn="ctr"/>
                      <a:r>
                        <a:rPr lang="en-IN" sz="1050" dirty="0">
                          <a:latin typeface="Times New Roman" panose="02020603050405020304" pitchFamily="18" charset="0"/>
                          <a:cs typeface="Times New Roman" panose="02020603050405020304" pitchFamily="18" charset="0"/>
                        </a:rPr>
                        <a:t>A. Dosovitskiy et al.</a:t>
                      </a:r>
                    </a:p>
                    <a:p>
                      <a:pPr algn="ctr"/>
                      <a:r>
                        <a:rPr lang="en-IN" sz="1050" dirty="0">
                          <a:latin typeface="Times New Roman" panose="02020603050405020304" pitchFamily="18" charset="0"/>
                          <a:cs typeface="Times New Roman" panose="02020603050405020304" pitchFamily="18" charset="0"/>
                        </a:rPr>
                        <a:t>(2021)</a:t>
                      </a:r>
                    </a:p>
                    <a:p>
                      <a:pPr algn="ctr"/>
                      <a:r>
                        <a:rPr lang="en-IN" sz="1050" dirty="0">
                          <a:latin typeface="Times New Roman" panose="02020603050405020304" pitchFamily="18" charset="0"/>
                          <a:cs typeface="Times New Roman" panose="02020603050405020304" pitchFamily="18" charset="0"/>
                        </a:rPr>
                        <a:t>ICLR</a:t>
                      </a:r>
                    </a:p>
                  </a:txBody>
                  <a:tcPr/>
                </a:tc>
                <a:tc>
                  <a:txBody>
                    <a:bodyPr/>
                    <a:lstStyle/>
                    <a:p>
                      <a:pPr algn="l"/>
                      <a:r>
                        <a:rPr lang="en-IN" sz="1050" dirty="0">
                          <a:latin typeface="Times New Roman" panose="02020603050405020304" pitchFamily="18" charset="0"/>
                          <a:cs typeface="Times New Roman" panose="02020603050405020304" pitchFamily="18" charset="0"/>
                        </a:rPr>
                        <a:t>An Image is Worth 16x16 Words: Transformers for Image Recognition at Scale (ViT)</a:t>
                      </a:r>
                    </a:p>
                  </a:txBody>
                  <a:tcPr/>
                </a:tc>
                <a:tc>
                  <a:txBody>
                    <a:bodyPr/>
                    <a:lstStyle/>
                    <a:p>
                      <a:pPr algn="l"/>
                      <a:r>
                        <a:rPr lang="en-IN" sz="1050" dirty="0">
                          <a:latin typeface="Times New Roman" panose="02020603050405020304" pitchFamily="18" charset="0"/>
                          <a:cs typeface="Times New Roman" panose="02020603050405020304" pitchFamily="18" charset="0"/>
                        </a:rPr>
                        <a:t>Pure transformer applied to fixed-size image patches for image classification at scale</a:t>
                      </a:r>
                    </a:p>
                  </a:txBody>
                  <a:tcPr/>
                </a:tc>
                <a:tc>
                  <a:txBody>
                    <a:bodyPr/>
                    <a:lstStyle/>
                    <a:p>
                      <a:pPr algn="l"/>
                      <a:r>
                        <a:rPr lang="en-IN" sz="1050" dirty="0">
                          <a:latin typeface="Times New Roman" panose="02020603050405020304" pitchFamily="18" charset="0"/>
                          <a:cs typeface="Times New Roman" panose="02020603050405020304" pitchFamily="18" charset="0"/>
                        </a:rPr>
                        <a:t>Demonstrates vision transformers can replace CNNs for large-scale image understanding</a:t>
                      </a:r>
                    </a:p>
                  </a:txBody>
                  <a:tcPr/>
                </a:tc>
                <a:tc>
                  <a:txBody>
                    <a:bodyPr/>
                    <a:lstStyle/>
                    <a:p>
                      <a:pPr algn="l"/>
                      <a:r>
                        <a:rPr lang="en-IN" sz="1050" dirty="0">
                          <a:latin typeface="Times New Roman" panose="02020603050405020304" pitchFamily="18" charset="0"/>
                          <a:cs typeface="Times New Roman" panose="02020603050405020304" pitchFamily="18" charset="0"/>
                        </a:rPr>
                        <a:t>Excellent scalability; outperforms CNNs on large datasets; strong global representations</a:t>
                      </a:r>
                    </a:p>
                  </a:txBody>
                  <a:tcPr/>
                </a:tc>
                <a:tc>
                  <a:txBody>
                    <a:bodyPr/>
                    <a:lstStyle/>
                    <a:p>
                      <a:pPr algn="l"/>
                      <a:r>
                        <a:rPr lang="en-IN" sz="1050" dirty="0">
                          <a:latin typeface="Times New Roman" panose="02020603050405020304" pitchFamily="18" charset="0"/>
                          <a:cs typeface="Times New Roman" panose="02020603050405020304" pitchFamily="18" charset="0"/>
                        </a:rPr>
                        <a:t>Requires very large datasets; computationally expensive; limited inductive spatial bias</a:t>
                      </a:r>
                    </a:p>
                  </a:txBody>
                  <a:tcPr/>
                </a:tc>
                <a:extLst>
                  <a:ext uri="{0D108BD9-81ED-4DB2-BD59-A6C34878D82A}">
                    <a16:rowId xmlns:a16="http://schemas.microsoft.com/office/drawing/2014/main" val="10003"/>
                  </a:ext>
                </a:extLst>
              </a:tr>
              <a:tr h="1000000">
                <a:tc>
                  <a:txBody>
                    <a:bodyPr/>
                    <a:lstStyle/>
                    <a:p>
                      <a:pPr algn="ctr"/>
                      <a:r>
                        <a:rPr lang="en-IN" sz="1100" dirty="0">
                          <a:latin typeface="Times New Roman" panose="02020603050405020304" pitchFamily="18" charset="0"/>
                          <a:cs typeface="Times New Roman" panose="02020603050405020304" pitchFamily="18" charset="0"/>
                        </a:rPr>
                        <a:t>9.</a:t>
                      </a:r>
                    </a:p>
                  </a:txBody>
                  <a:tcPr/>
                </a:tc>
                <a:tc>
                  <a:txBody>
                    <a:bodyPr/>
                    <a:lstStyle/>
                    <a:p>
                      <a:pPr algn="ctr"/>
                      <a:r>
                        <a:rPr lang="en-IN" sz="1050" dirty="0">
                          <a:latin typeface="Times New Roman" panose="02020603050405020304" pitchFamily="18" charset="0"/>
                          <a:cs typeface="Times New Roman" panose="02020603050405020304" pitchFamily="18" charset="0"/>
                        </a:rPr>
                        <a:t>G. Jocher et al.</a:t>
                      </a:r>
                    </a:p>
                    <a:p>
                      <a:pPr algn="ctr"/>
                      <a:r>
                        <a:rPr lang="en-IN" sz="1050" dirty="0">
                          <a:latin typeface="Times New Roman" panose="02020603050405020304" pitchFamily="18" charset="0"/>
                          <a:cs typeface="Times New Roman" panose="02020603050405020304" pitchFamily="18" charset="0"/>
                        </a:rPr>
                        <a:t>(2023)</a:t>
                      </a:r>
                    </a:p>
                    <a:p>
                      <a:pPr algn="ctr"/>
                      <a:r>
                        <a:rPr lang="en-IN" sz="1050" dirty="0">
                          <a:latin typeface="Times New Roman" panose="02020603050405020304" pitchFamily="18" charset="0"/>
                          <a:cs typeface="Times New Roman" panose="02020603050405020304" pitchFamily="18" charset="0"/>
                        </a:rPr>
                        <a:t>Ultralytics</a:t>
                      </a:r>
                    </a:p>
                  </a:txBody>
                  <a:tcPr/>
                </a:tc>
                <a:tc>
                  <a:txBody>
                    <a:bodyPr/>
                    <a:lstStyle/>
                    <a:p>
                      <a:pPr algn="l"/>
                      <a:r>
                        <a:rPr lang="en-IN" sz="1050" dirty="0">
                          <a:latin typeface="Times New Roman" panose="02020603050405020304" pitchFamily="18" charset="0"/>
                          <a:cs typeface="Times New Roman" panose="02020603050405020304" pitchFamily="18" charset="0"/>
                        </a:rPr>
                        <a:t>Ultralytics YOLOv8: Real-Time Object Detection, Segmentation and Classification</a:t>
                      </a:r>
                    </a:p>
                  </a:txBody>
                  <a:tcPr/>
                </a:tc>
                <a:tc>
                  <a:txBody>
                    <a:bodyPr/>
                    <a:lstStyle/>
                    <a:p>
                      <a:pPr algn="l"/>
                      <a:r>
                        <a:rPr lang="en-IN" sz="1050" dirty="0">
                          <a:latin typeface="Times New Roman" panose="02020603050405020304" pitchFamily="18" charset="0"/>
                          <a:cs typeface="Times New Roman" panose="02020603050405020304" pitchFamily="18" charset="0"/>
                        </a:rPr>
                        <a:t>Anchor-free multi-task architecture: detection, segmentation, and pose estimation in one model</a:t>
                      </a:r>
                    </a:p>
                  </a:txBody>
                  <a:tcPr/>
                </a:tc>
                <a:tc>
                  <a:txBody>
                    <a:bodyPr/>
                    <a:lstStyle/>
                    <a:p>
                      <a:pPr algn="l"/>
                      <a:r>
                        <a:rPr lang="en-IN" sz="1050" dirty="0">
                          <a:latin typeface="Times New Roman" panose="02020603050405020304" pitchFamily="18" charset="0"/>
                          <a:cs typeface="Times New Roman" panose="02020603050405020304" pitchFamily="18" charset="0"/>
                        </a:rPr>
                        <a:t>Unified real-time framework for object detection and face detection in privacy systems</a:t>
                      </a:r>
                    </a:p>
                  </a:txBody>
                  <a:tcPr/>
                </a:tc>
                <a:tc>
                  <a:txBody>
                    <a:bodyPr/>
                    <a:lstStyle/>
                    <a:p>
                      <a:pPr algn="l"/>
                      <a:r>
                        <a:rPr lang="en-IN" sz="1050" dirty="0">
                          <a:latin typeface="Times New Roman" panose="02020603050405020304" pitchFamily="18" charset="0"/>
                          <a:cs typeface="Times New Roman" panose="02020603050405020304" pitchFamily="18" charset="0"/>
                        </a:rPr>
                        <a:t>Best accuracy-speed tradeoff; Python API; multi-task in a single model architecture</a:t>
                      </a:r>
                    </a:p>
                  </a:txBody>
                  <a:tcPr/>
                </a:tc>
                <a:tc>
                  <a:txBody>
                    <a:bodyPr/>
                    <a:lstStyle/>
                    <a:p>
                      <a:pPr algn="l"/>
                      <a:r>
                        <a:rPr lang="en-IN" sz="1050" dirty="0">
                          <a:latin typeface="Times New Roman" panose="02020603050405020304" pitchFamily="18" charset="0"/>
                          <a:cs typeface="Times New Roman" panose="02020603050405020304" pitchFamily="18" charset="0"/>
                        </a:rPr>
                        <a:t>Newer architecture with limited formal peer-reviewed benchmarks; compute-heavy for edge</a:t>
                      </a:r>
                    </a:p>
                  </a:txBody>
                  <a:tcPr/>
                </a:tc>
                <a:extLst>
                  <a:ext uri="{0D108BD9-81ED-4DB2-BD59-A6C34878D82A}">
                    <a16:rowId xmlns:a16="http://schemas.microsoft.com/office/drawing/2014/main" val="10004"/>
                  </a:ext>
                </a:extLst>
              </a:tr>
              <a:tr h="1000000">
                <a:tc>
                  <a:txBody>
                    <a:bodyPr/>
                    <a:lstStyle/>
                    <a:p>
                      <a:pPr algn="ctr"/>
                      <a:r>
                        <a:rPr lang="en-IN" sz="1100" dirty="0">
                          <a:latin typeface="Times New Roman" panose="02020603050405020304" pitchFamily="18" charset="0"/>
                          <a:cs typeface="Times New Roman" panose="02020603050405020304" pitchFamily="18" charset="0"/>
                        </a:rPr>
                        <a:t>10.</a:t>
                      </a:r>
                    </a:p>
                  </a:txBody>
                  <a:tcPr/>
                </a:tc>
                <a:tc>
                  <a:txBody>
                    <a:bodyPr/>
                    <a:lstStyle/>
                    <a:p>
                      <a:pPr algn="ctr"/>
                      <a:r>
                        <a:rPr lang="en-IN" sz="1050" dirty="0">
                          <a:latin typeface="Times New Roman" panose="02020603050405020304" pitchFamily="18" charset="0"/>
                          <a:cs typeface="Times New Roman" panose="02020603050405020304" pitchFamily="18" charset="0"/>
                        </a:rPr>
                        <a:t>S. Minaee et al.</a:t>
                      </a:r>
                    </a:p>
                    <a:p>
                      <a:pPr algn="ctr"/>
                      <a:r>
                        <a:rPr lang="en-IN" sz="1050" dirty="0">
                          <a:latin typeface="Times New Roman" panose="02020603050405020304" pitchFamily="18" charset="0"/>
                          <a:cs typeface="Times New Roman" panose="02020603050405020304" pitchFamily="18" charset="0"/>
                        </a:rPr>
                        <a:t>(2022)</a:t>
                      </a:r>
                    </a:p>
                    <a:p>
                      <a:pPr algn="ctr"/>
                      <a:r>
                        <a:rPr lang="en-IN" sz="1050" dirty="0">
                          <a:latin typeface="Times New Roman" panose="02020603050405020304" pitchFamily="18" charset="0"/>
                          <a:cs typeface="Times New Roman" panose="02020603050405020304" pitchFamily="18" charset="0"/>
                        </a:rPr>
                        <a:t>IEEE TPAMI</a:t>
                      </a:r>
                    </a:p>
                  </a:txBody>
                  <a:tcPr/>
                </a:tc>
                <a:tc>
                  <a:txBody>
                    <a:bodyPr/>
                    <a:lstStyle/>
                    <a:p>
                      <a:pPr algn="l"/>
                      <a:r>
                        <a:rPr lang="en-IN" sz="1050" dirty="0">
                          <a:latin typeface="Times New Roman" panose="02020603050405020304" pitchFamily="18" charset="0"/>
                          <a:cs typeface="Times New Roman" panose="02020603050405020304" pitchFamily="18" charset="0"/>
                        </a:rPr>
                        <a:t>Image Segmentation Using Deep Learning: A Survey</a:t>
                      </a:r>
                    </a:p>
                  </a:txBody>
                  <a:tcPr/>
                </a:tc>
                <a:tc>
                  <a:txBody>
                    <a:bodyPr/>
                    <a:lstStyle/>
                    <a:p>
                      <a:pPr algn="l"/>
                      <a:r>
                        <a:rPr lang="en-IN" sz="1050" dirty="0">
                          <a:latin typeface="Times New Roman" panose="02020603050405020304" pitchFamily="18" charset="0"/>
                          <a:cs typeface="Times New Roman" panose="02020603050405020304" pitchFamily="18" charset="0"/>
                        </a:rPr>
                        <a:t>Comprehensive review of FCN, U-Net, Mask R-CNN, and transformer-based segmentation models</a:t>
                      </a:r>
                    </a:p>
                  </a:txBody>
                  <a:tcPr/>
                </a:tc>
                <a:tc>
                  <a:txBody>
                    <a:bodyPr/>
                    <a:lstStyle/>
                    <a:p>
                      <a:pPr algn="l"/>
                      <a:r>
                        <a:rPr lang="en-IN" sz="1050" dirty="0">
                          <a:latin typeface="Times New Roman" panose="02020603050405020304" pitchFamily="18" charset="0"/>
                          <a:cs typeface="Times New Roman" panose="02020603050405020304" pitchFamily="18" charset="0"/>
                        </a:rPr>
                        <a:t>Systematic analysis of deep learning methods for semantic and instance segmentation tasks</a:t>
                      </a:r>
                    </a:p>
                  </a:txBody>
                  <a:tcPr/>
                </a:tc>
                <a:tc>
                  <a:txBody>
                    <a:bodyPr/>
                    <a:lstStyle/>
                    <a:p>
                      <a:pPr algn="l"/>
                      <a:r>
                        <a:rPr lang="en-IN" sz="1050" dirty="0">
                          <a:latin typeface="Times New Roman" panose="02020603050405020304" pitchFamily="18" charset="0"/>
                          <a:cs typeface="Times New Roman" panose="02020603050405020304" pitchFamily="18" charset="0"/>
                        </a:rPr>
                        <a:t>Broad coverage of segmentation techniques applicable to privacy-aware foreground/background separation</a:t>
                      </a:r>
                    </a:p>
                  </a:txBody>
                  <a:tcPr/>
                </a:tc>
                <a:tc>
                  <a:txBody>
                    <a:bodyPr/>
                    <a:lstStyle/>
                    <a:p>
                      <a:pPr algn="l"/>
                      <a:r>
                        <a:rPr lang="en-IN" sz="1050" dirty="0">
                          <a:latin typeface="Times New Roman" panose="02020603050405020304" pitchFamily="18" charset="0"/>
                          <a:cs typeface="Times New Roman" panose="02020603050405020304" pitchFamily="18" charset="0"/>
                        </a:rPr>
                        <a:t>Survey paper; no novel model; limited focus on real-time or edge deployment constraints</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35A992-0B11-E5E8-3902-3E0300770868}"/>
              </a:ext>
            </a:extLst>
          </p:cNvPr>
          <p:cNvSpPr txBox="1"/>
          <p:nvPr/>
        </p:nvSpPr>
        <p:spPr>
          <a:xfrm>
            <a:off x="2270551" y="280256"/>
            <a:ext cx="8101780" cy="707886"/>
          </a:xfrm>
          <a:prstGeom prst="rect">
            <a:avLst/>
          </a:prstGeom>
        </p:spPr>
        <p:txBody>
          <a:bodyPr lIns="0" tIns="0" rIns="0" bIns="0" rtlCol="0" anchor="t">
            <a:spAutoFit/>
          </a:bodyPr>
          <a:lstStyle>
            <a:defPPr>
              <a:defRPr lang="en-US"/>
            </a:defPPr>
            <a:lvl1pPr algn="ctr">
              <a:lnSpc>
                <a:spcPts val="5189"/>
              </a:lnSpc>
              <a:defRPr sz="5189" b="1">
                <a:solidFill>
                  <a:srgbClr val="227C9D"/>
                </a:solidFill>
                <a:latin typeface="Times New Roman Bold"/>
                <a:ea typeface="Times New Roman Bold"/>
                <a:cs typeface="Times New Roman Bold"/>
              </a:defRPr>
            </a:lvl1pPr>
          </a:lstStyle>
          <a:p>
            <a:r>
              <a:rPr lang="en-IN" dirty="0"/>
              <a:t>Research Gaps Identified</a:t>
            </a:r>
          </a:p>
        </p:txBody>
      </p:sp>
      <p:sp>
        <p:nvSpPr>
          <p:cNvPr id="3" name="Freeform 4">
            <a:extLst>
              <a:ext uri="{FF2B5EF4-FFF2-40B4-BE49-F238E27FC236}">
                <a16:creationId xmlns:a16="http://schemas.microsoft.com/office/drawing/2014/main" id="{4C9F1B35-F8D2-6B04-1852-1A8A1C317AAA}"/>
              </a:ext>
            </a:extLst>
          </p:cNvPr>
          <p:cNvSpPr/>
          <p:nvPr/>
        </p:nvSpPr>
        <p:spPr>
          <a:xfrm>
            <a:off x="10816060" y="5892052"/>
            <a:ext cx="1334118" cy="953261"/>
          </a:xfrm>
          <a:custGeom>
            <a:avLst/>
            <a:gdLst/>
            <a:ahLst/>
            <a:cxnLst/>
            <a:rect l="l" t="t" r="r" b="b"/>
            <a:pathLst>
              <a:path w="17987676" h="1976792">
                <a:moveTo>
                  <a:pt x="0" y="0"/>
                </a:moveTo>
                <a:lnTo>
                  <a:pt x="17987676" y="0"/>
                </a:lnTo>
                <a:lnTo>
                  <a:pt x="17987676" y="1976792"/>
                </a:lnTo>
                <a:lnTo>
                  <a:pt x="0" y="1976792"/>
                </a:lnTo>
                <a:lnTo>
                  <a:pt x="0" y="0"/>
                </a:lnTo>
                <a:close/>
              </a:path>
            </a:pathLst>
          </a:custGeom>
          <a:blipFill>
            <a:blip r:embed="rId2"/>
            <a:stretch>
              <a:fillRect l="-636332" t="-3636" b="-15051"/>
            </a:stretch>
          </a:blipFill>
        </p:spPr>
      </p:sp>
      <p:sp>
        <p:nvSpPr>
          <p:cNvPr id="99" name="ContentBox 99"/>
          <p:cNvSpPr txBox="1"/>
          <p:nvPr/>
        </p:nvSpPr>
        <p:spPr>
          <a:xfrm>
            <a:off x="206478" y="1200000"/>
            <a:ext cx="11729883" cy="5321329"/>
          </a:xfrm>
          <a:prstGeom prst="rect">
            <a:avLst/>
          </a:prstGeom>
          <a:noFill/>
        </p:spPr>
        <p:txBody>
          <a:bodyPr wrap="square" rtlCol="0">
            <a:spAutoFit/>
          </a:bodyPr>
          <a:lstStyle/>
          <a:p>
            <a:pPr marL="228600" indent="-228600">
              <a:lnSpc>
                <a:spcPct val="150000"/>
              </a:lnSpc>
              <a:spcBef>
                <a:spcPts val="200"/>
              </a:spcBef>
            </a:pPr>
            <a:r>
              <a:rPr lang="en-US" sz="1600" b="1" dirty="0">
                <a:solidFill>
                  <a:srgbClr val="227C9D"/>
                </a:solidFill>
                <a:latin typeface="Times New Roman"/>
              </a:rPr>
              <a:t>Gap 1: Blanket Blurring Without Context Awareness</a:t>
            </a:r>
          </a:p>
          <a:p>
            <a:pPr marL="342900" indent="-342900">
              <a:lnSpc>
                <a:spcPct val="150000"/>
              </a:lnSpc>
              <a:buChar char="•"/>
            </a:pPr>
            <a:r>
              <a:rPr lang="en-US" sz="1600" dirty="0">
                <a:solidFill>
                  <a:srgbClr val="000000"/>
                </a:solidFill>
                <a:latin typeface="Times New Roman"/>
              </a:rPr>
              <a:t>Existing systems (Google Street View, dashcam anonymizers) blur every detected face/plate uniformly, destroying important image context and aesthetics of social media content.</a:t>
            </a:r>
          </a:p>
          <a:p>
            <a:pPr marL="228600" indent="-228600">
              <a:lnSpc>
                <a:spcPct val="150000"/>
              </a:lnSpc>
              <a:spcBef>
                <a:spcPts val="200"/>
              </a:spcBef>
            </a:pPr>
            <a:r>
              <a:rPr lang="en-US" sz="1600" b="1" dirty="0">
                <a:solidFill>
                  <a:srgbClr val="227C9D"/>
                </a:solidFill>
                <a:latin typeface="Times New Roman"/>
              </a:rPr>
              <a:t>Gap 2: No Main Subject Preservation</a:t>
            </a:r>
          </a:p>
          <a:p>
            <a:pPr marL="342900" indent="-342900">
              <a:lnSpc>
                <a:spcPct val="150000"/>
              </a:lnSpc>
              <a:buChar char="•"/>
            </a:pPr>
            <a:r>
              <a:rPr lang="en-US" sz="1600" dirty="0">
                <a:solidFill>
                  <a:srgbClr val="000000"/>
                </a:solidFill>
                <a:latin typeface="Times New Roman"/>
              </a:rPr>
              <a:t>Current tools fail to distinguish between the primary subject (user's own face) and background individuals, resulting in unacceptable photo quality for social media sharing.</a:t>
            </a:r>
          </a:p>
          <a:p>
            <a:pPr marL="228600" indent="-228600">
              <a:lnSpc>
                <a:spcPct val="150000"/>
              </a:lnSpc>
              <a:spcBef>
                <a:spcPts val="200"/>
              </a:spcBef>
            </a:pPr>
            <a:r>
              <a:rPr lang="en-US" sz="1600" b="1" dirty="0">
                <a:solidFill>
                  <a:srgbClr val="227C9D"/>
                </a:solidFill>
                <a:latin typeface="Times New Roman"/>
              </a:rPr>
              <a:t>Gap 3: Reversible Anonymization Vulnerability</a:t>
            </a:r>
          </a:p>
          <a:p>
            <a:pPr marL="342900" indent="-342900">
              <a:lnSpc>
                <a:spcPct val="150000"/>
              </a:lnSpc>
              <a:buChar char="•"/>
            </a:pPr>
            <a:r>
              <a:rPr lang="en-US" sz="1600" dirty="0">
                <a:solidFill>
                  <a:srgbClr val="000000"/>
                </a:solidFill>
                <a:latin typeface="Times New Roman"/>
              </a:rPr>
              <a:t>Gaussian blur and pixelation can be reversed by modern AI (diffusion models achieve 95.9% re-identification accuracy on blurred faces), making standard blurring methods inadequate.</a:t>
            </a:r>
          </a:p>
          <a:p>
            <a:pPr marL="228600" indent="-228600">
              <a:lnSpc>
                <a:spcPct val="150000"/>
              </a:lnSpc>
              <a:spcBef>
                <a:spcPts val="200"/>
              </a:spcBef>
            </a:pPr>
            <a:r>
              <a:rPr lang="en-US" sz="1600" b="1" dirty="0">
                <a:solidFill>
                  <a:srgbClr val="227C9D"/>
                </a:solidFill>
                <a:latin typeface="Times New Roman"/>
              </a:rPr>
              <a:t>Gap 4: Limited OCR for Artistic/Scene Text</a:t>
            </a:r>
          </a:p>
          <a:p>
            <a:pPr marL="342900" indent="-342900">
              <a:lnSpc>
                <a:spcPct val="150000"/>
              </a:lnSpc>
              <a:buChar char="•"/>
            </a:pPr>
            <a:r>
              <a:rPr lang="en-US" sz="1600" dirty="0">
                <a:solidFill>
                  <a:srgbClr val="000000"/>
                </a:solidFill>
                <a:latin typeface="Times New Roman"/>
              </a:rPr>
              <a:t>Standard OCR tools miss stylized, tilted, or artistically rendered text common on T-shirts, posters, and banners in social media photos.</a:t>
            </a:r>
          </a:p>
          <a:p>
            <a:pPr marL="228600" indent="-228600">
              <a:lnSpc>
                <a:spcPct val="150000"/>
              </a:lnSpc>
              <a:spcBef>
                <a:spcPts val="200"/>
              </a:spcBef>
            </a:pPr>
            <a:r>
              <a:rPr lang="en-US" sz="1600" b="1" dirty="0">
                <a:solidFill>
                  <a:srgbClr val="227C9D"/>
                </a:solidFill>
                <a:latin typeface="Times New Roman"/>
              </a:rPr>
              <a:t>Gap 5: No Privacy Risk Quantification</a:t>
            </a:r>
          </a:p>
          <a:p>
            <a:pPr marL="342900" indent="-342900">
              <a:lnSpc>
                <a:spcPct val="150000"/>
              </a:lnSpc>
              <a:buChar char="•"/>
            </a:pPr>
            <a:r>
              <a:rPr lang="en-US" sz="1600" dirty="0">
                <a:solidFill>
                  <a:srgbClr val="000000"/>
                </a:solidFill>
                <a:latin typeface="Times New Roman"/>
              </a:rPr>
              <a:t>No existing tool provides a measurable, explainable privacy risk score to inform users of their actual exposure level before sharing content.</a:t>
            </a:r>
          </a:p>
        </p:txBody>
      </p:sp>
    </p:spTree>
    <p:extLst>
      <p:ext uri="{BB962C8B-B14F-4D97-AF65-F5344CB8AC3E}">
        <p14:creationId xmlns:p14="http://schemas.microsoft.com/office/powerpoint/2010/main" val="2891381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C8291-E9AE-7C43-12A0-6801A8014C6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C97A9AB-FFE3-2978-19CF-3118A294333B}"/>
              </a:ext>
            </a:extLst>
          </p:cNvPr>
          <p:cNvGrpSpPr/>
          <p:nvPr/>
        </p:nvGrpSpPr>
        <p:grpSpPr>
          <a:xfrm>
            <a:off x="-264368" y="5121244"/>
            <a:ext cx="716127" cy="2929766"/>
            <a:chOff x="0" y="0"/>
            <a:chExt cx="282915" cy="1157438"/>
          </a:xfrm>
        </p:grpSpPr>
        <p:sp>
          <p:nvSpPr>
            <p:cNvPr id="3" name="Freeform 3">
              <a:extLst>
                <a:ext uri="{FF2B5EF4-FFF2-40B4-BE49-F238E27FC236}">
                  <a16:creationId xmlns:a16="http://schemas.microsoft.com/office/drawing/2014/main" id="{8363DC71-7065-63CA-8448-399DDBF80C13}"/>
                </a:ext>
              </a:extLst>
            </p:cNvPr>
            <p:cNvSpPr/>
            <p:nvPr/>
          </p:nvSpPr>
          <p:spPr>
            <a:xfrm>
              <a:off x="0" y="0"/>
              <a:ext cx="282915" cy="1157438"/>
            </a:xfrm>
            <a:custGeom>
              <a:avLst/>
              <a:gdLst/>
              <a:ahLst/>
              <a:cxnLst/>
              <a:rect l="l" t="t" r="r" b="b"/>
              <a:pathLst>
                <a:path w="282915" h="1157438">
                  <a:moveTo>
                    <a:pt x="141457" y="0"/>
                  </a:moveTo>
                  <a:lnTo>
                    <a:pt x="141457" y="0"/>
                  </a:lnTo>
                  <a:cubicBezTo>
                    <a:pt x="219582" y="0"/>
                    <a:pt x="282915" y="63333"/>
                    <a:pt x="282915" y="141457"/>
                  </a:cubicBezTo>
                  <a:lnTo>
                    <a:pt x="282915" y="1015981"/>
                  </a:lnTo>
                  <a:cubicBezTo>
                    <a:pt x="282915" y="1094106"/>
                    <a:pt x="219582" y="1157438"/>
                    <a:pt x="141457" y="1157438"/>
                  </a:cubicBezTo>
                  <a:lnTo>
                    <a:pt x="141457" y="1157438"/>
                  </a:lnTo>
                  <a:cubicBezTo>
                    <a:pt x="63333" y="1157438"/>
                    <a:pt x="0" y="1094106"/>
                    <a:pt x="0" y="1015981"/>
                  </a:cubicBezTo>
                  <a:lnTo>
                    <a:pt x="0" y="141457"/>
                  </a:lnTo>
                  <a:cubicBezTo>
                    <a:pt x="0" y="63333"/>
                    <a:pt x="63333" y="0"/>
                    <a:pt x="141457" y="0"/>
                  </a:cubicBezTo>
                  <a:close/>
                </a:path>
              </a:pathLst>
            </a:custGeom>
            <a:solidFill>
              <a:srgbClr val="545454"/>
            </a:solidFill>
          </p:spPr>
        </p:sp>
        <p:sp>
          <p:nvSpPr>
            <p:cNvPr id="4" name="TextBox 4">
              <a:extLst>
                <a:ext uri="{FF2B5EF4-FFF2-40B4-BE49-F238E27FC236}">
                  <a16:creationId xmlns:a16="http://schemas.microsoft.com/office/drawing/2014/main" id="{9DE897EE-093F-5E00-5AFF-922DDBAF0DDE}"/>
                </a:ext>
              </a:extLst>
            </p:cNvPr>
            <p:cNvSpPr txBox="1"/>
            <p:nvPr/>
          </p:nvSpPr>
          <p:spPr>
            <a:xfrm>
              <a:off x="0" y="19050"/>
              <a:ext cx="282915" cy="1138388"/>
            </a:xfrm>
            <a:prstGeom prst="rect">
              <a:avLst/>
            </a:prstGeom>
          </p:spPr>
          <p:txBody>
            <a:bodyPr lIns="33867" tIns="33867" rIns="33867" bIns="33867" rtlCol="0" anchor="ctr"/>
            <a:lstStyle/>
            <a:p>
              <a:pPr algn="ctr">
                <a:lnSpc>
                  <a:spcPts val="1702"/>
                </a:lnSpc>
              </a:pPr>
              <a:endParaRPr sz="1200"/>
            </a:p>
          </p:txBody>
        </p:sp>
      </p:grpSp>
      <p:grpSp>
        <p:nvGrpSpPr>
          <p:cNvPr id="5" name="Group 5">
            <a:extLst>
              <a:ext uri="{FF2B5EF4-FFF2-40B4-BE49-F238E27FC236}">
                <a16:creationId xmlns:a16="http://schemas.microsoft.com/office/drawing/2014/main" id="{8E8D12AE-A9C0-5AB4-0FAB-7123A7EDBBF3}"/>
              </a:ext>
            </a:extLst>
          </p:cNvPr>
          <p:cNvGrpSpPr/>
          <p:nvPr/>
        </p:nvGrpSpPr>
        <p:grpSpPr>
          <a:xfrm>
            <a:off x="11632030" y="-1266566"/>
            <a:ext cx="716127" cy="2929766"/>
            <a:chOff x="0" y="0"/>
            <a:chExt cx="282915" cy="1157438"/>
          </a:xfrm>
        </p:grpSpPr>
        <p:sp>
          <p:nvSpPr>
            <p:cNvPr id="6" name="Freeform 6">
              <a:extLst>
                <a:ext uri="{FF2B5EF4-FFF2-40B4-BE49-F238E27FC236}">
                  <a16:creationId xmlns:a16="http://schemas.microsoft.com/office/drawing/2014/main" id="{60AB4229-E66A-90D3-378D-36F31CD63863}"/>
                </a:ext>
              </a:extLst>
            </p:cNvPr>
            <p:cNvSpPr/>
            <p:nvPr/>
          </p:nvSpPr>
          <p:spPr>
            <a:xfrm>
              <a:off x="0" y="0"/>
              <a:ext cx="282915" cy="1157438"/>
            </a:xfrm>
            <a:custGeom>
              <a:avLst/>
              <a:gdLst/>
              <a:ahLst/>
              <a:cxnLst/>
              <a:rect l="l" t="t" r="r" b="b"/>
              <a:pathLst>
                <a:path w="282915" h="1157438">
                  <a:moveTo>
                    <a:pt x="141457" y="0"/>
                  </a:moveTo>
                  <a:lnTo>
                    <a:pt x="141457" y="0"/>
                  </a:lnTo>
                  <a:cubicBezTo>
                    <a:pt x="219582" y="0"/>
                    <a:pt x="282915" y="63333"/>
                    <a:pt x="282915" y="141457"/>
                  </a:cubicBezTo>
                  <a:lnTo>
                    <a:pt x="282915" y="1015981"/>
                  </a:lnTo>
                  <a:cubicBezTo>
                    <a:pt x="282915" y="1094106"/>
                    <a:pt x="219582" y="1157438"/>
                    <a:pt x="141457" y="1157438"/>
                  </a:cubicBezTo>
                  <a:lnTo>
                    <a:pt x="141457" y="1157438"/>
                  </a:lnTo>
                  <a:cubicBezTo>
                    <a:pt x="63333" y="1157438"/>
                    <a:pt x="0" y="1094106"/>
                    <a:pt x="0" y="1015981"/>
                  </a:cubicBezTo>
                  <a:lnTo>
                    <a:pt x="0" y="141457"/>
                  </a:lnTo>
                  <a:cubicBezTo>
                    <a:pt x="0" y="63333"/>
                    <a:pt x="63333" y="0"/>
                    <a:pt x="141457" y="0"/>
                  </a:cubicBezTo>
                  <a:close/>
                </a:path>
              </a:pathLst>
            </a:custGeom>
            <a:solidFill>
              <a:srgbClr val="545454"/>
            </a:solidFill>
          </p:spPr>
        </p:sp>
        <p:sp>
          <p:nvSpPr>
            <p:cNvPr id="7" name="TextBox 7">
              <a:extLst>
                <a:ext uri="{FF2B5EF4-FFF2-40B4-BE49-F238E27FC236}">
                  <a16:creationId xmlns:a16="http://schemas.microsoft.com/office/drawing/2014/main" id="{0A0359B9-F637-6438-70CA-2B49968AC94B}"/>
                </a:ext>
              </a:extLst>
            </p:cNvPr>
            <p:cNvSpPr txBox="1"/>
            <p:nvPr/>
          </p:nvSpPr>
          <p:spPr>
            <a:xfrm>
              <a:off x="0" y="19050"/>
              <a:ext cx="282915" cy="1138388"/>
            </a:xfrm>
            <a:prstGeom prst="rect">
              <a:avLst/>
            </a:prstGeom>
          </p:spPr>
          <p:txBody>
            <a:bodyPr lIns="33867" tIns="33867" rIns="33867" bIns="33867" rtlCol="0" anchor="ctr"/>
            <a:lstStyle/>
            <a:p>
              <a:pPr algn="ctr">
                <a:lnSpc>
                  <a:spcPts val="1702"/>
                </a:lnSpc>
              </a:pPr>
              <a:endParaRPr sz="1200"/>
            </a:p>
          </p:txBody>
        </p:sp>
      </p:grpSp>
      <p:sp>
        <p:nvSpPr>
          <p:cNvPr id="8" name="Freeform 8">
            <a:extLst>
              <a:ext uri="{FF2B5EF4-FFF2-40B4-BE49-F238E27FC236}">
                <a16:creationId xmlns:a16="http://schemas.microsoft.com/office/drawing/2014/main" id="{2585DB66-C610-BA36-9F92-61422C664CFF}"/>
              </a:ext>
            </a:extLst>
          </p:cNvPr>
          <p:cNvSpPr/>
          <p:nvPr/>
        </p:nvSpPr>
        <p:spPr>
          <a:xfrm>
            <a:off x="-2373293" y="-1625296"/>
            <a:ext cx="3371748" cy="2918095"/>
          </a:xfrm>
          <a:custGeom>
            <a:avLst/>
            <a:gdLst/>
            <a:ahLst/>
            <a:cxnLst/>
            <a:rect l="l" t="t" r="r" b="b"/>
            <a:pathLst>
              <a:path w="5057622" h="4377142">
                <a:moveTo>
                  <a:pt x="0" y="0"/>
                </a:moveTo>
                <a:lnTo>
                  <a:pt x="5057622" y="0"/>
                </a:lnTo>
                <a:lnTo>
                  <a:pt x="5057622" y="4377142"/>
                </a:lnTo>
                <a:lnTo>
                  <a:pt x="0" y="437714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a:extLst>
              <a:ext uri="{FF2B5EF4-FFF2-40B4-BE49-F238E27FC236}">
                <a16:creationId xmlns:a16="http://schemas.microsoft.com/office/drawing/2014/main" id="{A51D55DC-3E45-A0BE-7A92-615988F5242A}"/>
              </a:ext>
            </a:extLst>
          </p:cNvPr>
          <p:cNvSpPr/>
          <p:nvPr/>
        </p:nvSpPr>
        <p:spPr>
          <a:xfrm>
            <a:off x="11031762" y="4196997"/>
            <a:ext cx="3371748" cy="2918095"/>
          </a:xfrm>
          <a:custGeom>
            <a:avLst/>
            <a:gdLst/>
            <a:ahLst/>
            <a:cxnLst/>
            <a:rect l="l" t="t" r="r" b="b"/>
            <a:pathLst>
              <a:path w="5057622" h="4377142">
                <a:moveTo>
                  <a:pt x="0" y="0"/>
                </a:moveTo>
                <a:lnTo>
                  <a:pt x="5057622" y="0"/>
                </a:lnTo>
                <a:lnTo>
                  <a:pt x="5057622" y="4377142"/>
                </a:lnTo>
                <a:lnTo>
                  <a:pt x="0" y="437714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3" name="Freeform 4">
            <a:extLst>
              <a:ext uri="{FF2B5EF4-FFF2-40B4-BE49-F238E27FC236}">
                <a16:creationId xmlns:a16="http://schemas.microsoft.com/office/drawing/2014/main" id="{70FF8BA3-70DB-C6AF-470E-9303746C5FE7}"/>
              </a:ext>
            </a:extLst>
          </p:cNvPr>
          <p:cNvSpPr/>
          <p:nvPr/>
        </p:nvSpPr>
        <p:spPr>
          <a:xfrm>
            <a:off x="10869788" y="5904740"/>
            <a:ext cx="1334118" cy="953261"/>
          </a:xfrm>
          <a:custGeom>
            <a:avLst/>
            <a:gdLst/>
            <a:ahLst/>
            <a:cxnLst/>
            <a:rect l="l" t="t" r="r" b="b"/>
            <a:pathLst>
              <a:path w="17987676" h="1976792">
                <a:moveTo>
                  <a:pt x="0" y="0"/>
                </a:moveTo>
                <a:lnTo>
                  <a:pt x="17987676" y="0"/>
                </a:lnTo>
                <a:lnTo>
                  <a:pt x="17987676" y="1976792"/>
                </a:lnTo>
                <a:lnTo>
                  <a:pt x="0" y="1976792"/>
                </a:lnTo>
                <a:lnTo>
                  <a:pt x="0" y="0"/>
                </a:lnTo>
                <a:close/>
              </a:path>
            </a:pathLst>
          </a:custGeom>
          <a:blipFill>
            <a:blip r:embed="rId3"/>
            <a:stretch>
              <a:fillRect l="-636332" t="-3636" b="-15051"/>
            </a:stretch>
          </a:blipFill>
        </p:spPr>
      </p:sp>
      <p:sp>
        <p:nvSpPr>
          <p:cNvPr id="14" name="TextBox 8">
            <a:extLst>
              <a:ext uri="{FF2B5EF4-FFF2-40B4-BE49-F238E27FC236}">
                <a16:creationId xmlns:a16="http://schemas.microsoft.com/office/drawing/2014/main" id="{CBADB53D-C6B0-E809-9FF1-B97F821A0141}"/>
              </a:ext>
            </a:extLst>
          </p:cNvPr>
          <p:cNvSpPr txBox="1"/>
          <p:nvPr/>
        </p:nvSpPr>
        <p:spPr>
          <a:xfrm>
            <a:off x="2757792" y="127165"/>
            <a:ext cx="6676418" cy="666849"/>
          </a:xfrm>
          <a:prstGeom prst="rect">
            <a:avLst/>
          </a:prstGeom>
        </p:spPr>
        <p:txBody>
          <a:bodyPr lIns="0" tIns="0" rIns="0" bIns="0" rtlCol="0" anchor="t">
            <a:spAutoFit/>
          </a:bodyPr>
          <a:lstStyle/>
          <a:p>
            <a:pPr algn="ctr">
              <a:lnSpc>
                <a:spcPts val="5189"/>
              </a:lnSpc>
            </a:pPr>
            <a:r>
              <a:rPr lang="en-US" sz="5189" b="1" dirty="0">
                <a:solidFill>
                  <a:srgbClr val="227C9D"/>
                </a:solidFill>
                <a:latin typeface="Times New Roman Bold"/>
                <a:ea typeface="Times New Roman Bold"/>
                <a:cs typeface="Times New Roman Bold"/>
                <a:sym typeface="Times New Roman Bold"/>
              </a:rPr>
              <a:t>Finalized Objectives</a:t>
            </a:r>
          </a:p>
        </p:txBody>
      </p:sp>
      <p:sp>
        <p:nvSpPr>
          <p:cNvPr id="99" name="ContentBox 99"/>
          <p:cNvSpPr txBox="1"/>
          <p:nvPr/>
        </p:nvSpPr>
        <p:spPr>
          <a:xfrm>
            <a:off x="260210" y="727811"/>
            <a:ext cx="11729883" cy="4680320"/>
          </a:xfrm>
          <a:prstGeom prst="rect">
            <a:avLst/>
          </a:prstGeom>
          <a:noFill/>
        </p:spPr>
        <p:txBody>
          <a:bodyPr wrap="square" rtlCol="0">
            <a:spAutoFit/>
          </a:bodyPr>
          <a:lstStyle/>
          <a:p>
            <a:pPr marL="228600" indent="-228600">
              <a:lnSpc>
                <a:spcPct val="150000"/>
              </a:lnSpc>
              <a:spcBef>
                <a:spcPts val="200"/>
              </a:spcBef>
            </a:pPr>
            <a:r>
              <a:rPr lang="en-US" sz="1500" b="1" dirty="0">
                <a:solidFill>
                  <a:srgbClr val="227C9D"/>
                </a:solidFill>
                <a:latin typeface="Times New Roman"/>
              </a:rPr>
              <a:t>Objective 1: Intelligent Sensitive Object Detection</a:t>
            </a:r>
          </a:p>
          <a:p>
            <a:pPr marL="342900" indent="-342900">
              <a:lnSpc>
                <a:spcPct val="150000"/>
              </a:lnSpc>
              <a:buChar char="•"/>
            </a:pPr>
            <a:r>
              <a:rPr lang="en-US" sz="1500" dirty="0">
                <a:solidFill>
                  <a:srgbClr val="000000"/>
                </a:solidFill>
                <a:latin typeface="Times New Roman"/>
              </a:rPr>
              <a:t>Detect faces, license plates, identity documents, house numbers, and sensitive text using YOLOv8 and CNN-based detection with high precision and recall.</a:t>
            </a:r>
          </a:p>
          <a:p>
            <a:pPr marL="228600" indent="-228600">
              <a:lnSpc>
                <a:spcPct val="150000"/>
              </a:lnSpc>
              <a:spcBef>
                <a:spcPts val="200"/>
              </a:spcBef>
            </a:pPr>
            <a:r>
              <a:rPr lang="en-US" sz="1500" b="1" dirty="0">
                <a:solidFill>
                  <a:srgbClr val="227C9D"/>
                </a:solidFill>
                <a:latin typeface="Times New Roman"/>
              </a:rPr>
              <a:t>Objective 2: Context-Aware Selective Anonymization</a:t>
            </a:r>
          </a:p>
          <a:p>
            <a:pPr marL="342900" indent="-342900">
              <a:lnSpc>
                <a:spcPct val="150000"/>
              </a:lnSpc>
              <a:buChar char="•"/>
            </a:pPr>
            <a:r>
              <a:rPr lang="en-US" sz="1500" dirty="0">
                <a:solidFill>
                  <a:srgbClr val="000000"/>
                </a:solidFill>
                <a:latin typeface="Times New Roman"/>
              </a:rPr>
              <a:t>Implement main-subject detection to preserve the primary portrait subject while selectively anonymizing only background sensitive elements.</a:t>
            </a:r>
          </a:p>
          <a:p>
            <a:pPr marL="228600" indent="-228600">
              <a:lnSpc>
                <a:spcPct val="150000"/>
              </a:lnSpc>
              <a:spcBef>
                <a:spcPts val="200"/>
              </a:spcBef>
            </a:pPr>
            <a:r>
              <a:rPr lang="en-US" sz="1500" b="1" dirty="0">
                <a:solidFill>
                  <a:srgbClr val="227C9D"/>
                </a:solidFill>
                <a:latin typeface="Times New Roman"/>
              </a:rPr>
              <a:t>Objective 3: Privacy Risk Scoring</a:t>
            </a:r>
          </a:p>
          <a:p>
            <a:pPr marL="342900" indent="-342900">
              <a:lnSpc>
                <a:spcPct val="150000"/>
              </a:lnSpc>
              <a:buChar char="•"/>
            </a:pPr>
            <a:r>
              <a:rPr lang="en-US" sz="1500" dirty="0">
                <a:solidFill>
                  <a:srgbClr val="000000"/>
                </a:solidFill>
                <a:latin typeface="Times New Roman"/>
              </a:rPr>
              <a:t>Develop a Privacy Risk Score (0-100) based on number, type, and visibility of detected sensitive objects to quantify exposure levels.</a:t>
            </a:r>
          </a:p>
          <a:p>
            <a:pPr marL="228600" indent="-228600">
              <a:lnSpc>
                <a:spcPct val="150000"/>
              </a:lnSpc>
              <a:spcBef>
                <a:spcPts val="200"/>
              </a:spcBef>
            </a:pPr>
            <a:r>
              <a:rPr lang="en-US" sz="1500" b="1" dirty="0">
                <a:solidFill>
                  <a:srgbClr val="227C9D"/>
                </a:solidFill>
                <a:latin typeface="Times New Roman"/>
              </a:rPr>
              <a:t>Objective 4: Robust OCR-Based Text Privacy</a:t>
            </a:r>
          </a:p>
          <a:p>
            <a:pPr marL="342900" indent="-342900">
              <a:lnSpc>
                <a:spcPct val="150000"/>
              </a:lnSpc>
              <a:buChar char="•"/>
            </a:pPr>
            <a:r>
              <a:rPr lang="en-US" sz="1500" dirty="0">
                <a:solidFill>
                  <a:srgbClr val="000000"/>
                </a:solidFill>
                <a:latin typeface="Times New Roman"/>
              </a:rPr>
              <a:t>Integrate CRAFT + EasyOCR pipeline to detect and anonymize PII text (emails, phone numbers, addresses) in stylized, curved, and scene text.</a:t>
            </a:r>
          </a:p>
          <a:p>
            <a:pPr marL="228600" indent="-228600">
              <a:lnSpc>
                <a:spcPct val="150000"/>
              </a:lnSpc>
              <a:spcBef>
                <a:spcPts val="200"/>
              </a:spcBef>
            </a:pPr>
            <a:r>
              <a:rPr lang="en-US" sz="1500" b="1" dirty="0">
                <a:solidFill>
                  <a:srgbClr val="227C9D"/>
                </a:solidFill>
                <a:latin typeface="Times New Roman"/>
              </a:rPr>
              <a:t>Objective 5: User-Controlled Privacy Rules</a:t>
            </a:r>
          </a:p>
          <a:p>
            <a:pPr marL="342900" indent="-342900">
              <a:lnSpc>
                <a:spcPct val="150000"/>
              </a:lnSpc>
              <a:buChar char="•"/>
            </a:pPr>
            <a:r>
              <a:rPr lang="en-US" sz="1500" dirty="0">
                <a:solidFill>
                  <a:srgbClr val="000000"/>
                </a:solidFill>
                <a:latin typeface="Times New Roman"/>
              </a:rPr>
              <a:t>Provide a user interface allowing selective toggling of anonymization categories (faces, plates, documents, text) with adjustable blur strength.</a:t>
            </a:r>
          </a:p>
          <a:p>
            <a:pPr marL="228600" indent="-228600">
              <a:lnSpc>
                <a:spcPct val="150000"/>
              </a:lnSpc>
              <a:spcBef>
                <a:spcPts val="200"/>
              </a:spcBef>
            </a:pPr>
            <a:r>
              <a:rPr lang="en-US" sz="1500" b="1" dirty="0">
                <a:solidFill>
                  <a:srgbClr val="227C9D"/>
                </a:solidFill>
                <a:latin typeface="Times New Roman"/>
              </a:rPr>
              <a:t>Objective 6: Privacy-First Local Processing</a:t>
            </a:r>
          </a:p>
          <a:p>
            <a:pPr marL="342900" indent="-342900">
              <a:lnSpc>
                <a:spcPct val="150000"/>
              </a:lnSpc>
              <a:buChar char="•"/>
            </a:pPr>
            <a:r>
              <a:rPr lang="en-US" sz="1500" dirty="0">
                <a:solidFill>
                  <a:srgbClr val="000000"/>
                </a:solidFill>
                <a:latin typeface="Times New Roman"/>
              </a:rPr>
              <a:t>Ensure all processing occurs on-device with no cloud upload, preserving user data sovereignty.</a:t>
            </a:r>
          </a:p>
        </p:txBody>
      </p:sp>
    </p:spTree>
    <p:extLst>
      <p:ext uri="{BB962C8B-B14F-4D97-AF65-F5344CB8AC3E}">
        <p14:creationId xmlns:p14="http://schemas.microsoft.com/office/powerpoint/2010/main" val="902744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A6CF0-CDAE-87DB-96B9-FE5B758882C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B691050-48F1-14B2-75A0-870CDBFC3FFD}"/>
              </a:ext>
            </a:extLst>
          </p:cNvPr>
          <p:cNvSpPr txBox="1"/>
          <p:nvPr/>
        </p:nvSpPr>
        <p:spPr>
          <a:xfrm>
            <a:off x="2270551" y="280256"/>
            <a:ext cx="8101780" cy="707886"/>
          </a:xfrm>
          <a:prstGeom prst="rect">
            <a:avLst/>
          </a:prstGeom>
        </p:spPr>
        <p:txBody>
          <a:bodyPr lIns="0" tIns="0" rIns="0" bIns="0" rtlCol="0" anchor="t">
            <a:spAutoFit/>
          </a:bodyPr>
          <a:lstStyle>
            <a:defPPr>
              <a:defRPr lang="en-US"/>
            </a:defPPr>
            <a:lvl1pPr algn="ctr">
              <a:lnSpc>
                <a:spcPts val="5189"/>
              </a:lnSpc>
              <a:defRPr sz="5189" b="1">
                <a:solidFill>
                  <a:srgbClr val="227C9D"/>
                </a:solidFill>
                <a:latin typeface="Times New Roman Bold"/>
                <a:ea typeface="Times New Roman Bold"/>
                <a:cs typeface="Times New Roman Bold"/>
              </a:defRPr>
            </a:lvl1pPr>
          </a:lstStyle>
          <a:p>
            <a:r>
              <a:rPr lang="en-IN" dirty="0"/>
              <a:t>Proposed Methodology</a:t>
            </a:r>
          </a:p>
        </p:txBody>
      </p:sp>
      <p:sp>
        <p:nvSpPr>
          <p:cNvPr id="3" name="Freeform 4">
            <a:extLst>
              <a:ext uri="{FF2B5EF4-FFF2-40B4-BE49-F238E27FC236}">
                <a16:creationId xmlns:a16="http://schemas.microsoft.com/office/drawing/2014/main" id="{D786F7A0-F39E-5D31-E7FE-5AA4B1A67E5E}"/>
              </a:ext>
            </a:extLst>
          </p:cNvPr>
          <p:cNvSpPr/>
          <p:nvPr/>
        </p:nvSpPr>
        <p:spPr>
          <a:xfrm>
            <a:off x="10816060" y="5892052"/>
            <a:ext cx="1334118" cy="953261"/>
          </a:xfrm>
          <a:custGeom>
            <a:avLst/>
            <a:gdLst/>
            <a:ahLst/>
            <a:cxnLst/>
            <a:rect l="l" t="t" r="r" b="b"/>
            <a:pathLst>
              <a:path w="17987676" h="1976792">
                <a:moveTo>
                  <a:pt x="0" y="0"/>
                </a:moveTo>
                <a:lnTo>
                  <a:pt x="17987676" y="0"/>
                </a:lnTo>
                <a:lnTo>
                  <a:pt x="17987676" y="1976792"/>
                </a:lnTo>
                <a:lnTo>
                  <a:pt x="0" y="1976792"/>
                </a:lnTo>
                <a:lnTo>
                  <a:pt x="0" y="0"/>
                </a:lnTo>
                <a:close/>
              </a:path>
            </a:pathLst>
          </a:custGeom>
          <a:blipFill>
            <a:blip r:embed="rId2"/>
            <a:stretch>
              <a:fillRect l="-636332" t="-3636" b="-15051"/>
            </a:stretch>
          </a:blipFill>
        </p:spPr>
      </p:sp>
      <p:sp>
        <p:nvSpPr>
          <p:cNvPr id="99" name="ContentBox 99"/>
          <p:cNvSpPr txBox="1"/>
          <p:nvPr/>
        </p:nvSpPr>
        <p:spPr>
          <a:xfrm>
            <a:off x="231058" y="861436"/>
            <a:ext cx="11729883" cy="5716308"/>
          </a:xfrm>
          <a:prstGeom prst="rect">
            <a:avLst/>
          </a:prstGeom>
          <a:noFill/>
        </p:spPr>
        <p:txBody>
          <a:bodyPr wrap="square" rtlCol="0">
            <a:spAutoFit/>
          </a:bodyPr>
          <a:lstStyle/>
          <a:p>
            <a:pPr marL="228600" indent="-228600">
              <a:lnSpc>
                <a:spcPct val="150000"/>
              </a:lnSpc>
              <a:spcBef>
                <a:spcPts val="200"/>
              </a:spcBef>
            </a:pPr>
            <a:r>
              <a:rPr lang="en-US" sz="1600" b="1" dirty="0">
                <a:solidFill>
                  <a:srgbClr val="227C9D"/>
                </a:solidFill>
                <a:latin typeface="Times New Roman"/>
              </a:rPr>
              <a:t>Stage 1: Input Processing</a:t>
            </a:r>
          </a:p>
          <a:p>
            <a:pPr marL="342900" indent="-342900">
              <a:lnSpc>
                <a:spcPct val="150000"/>
              </a:lnSpc>
              <a:buChar char="•"/>
            </a:pPr>
            <a:r>
              <a:rPr lang="en-US" sz="1600" dirty="0">
                <a:solidFill>
                  <a:srgbClr val="000000"/>
                </a:solidFill>
                <a:latin typeface="Times New Roman"/>
              </a:rPr>
              <a:t>Accept user-uploaded image/video; perform preprocessing (resize, normalize) for model inference.</a:t>
            </a:r>
          </a:p>
          <a:p>
            <a:pPr marL="228600" indent="-228600">
              <a:lnSpc>
                <a:spcPct val="150000"/>
              </a:lnSpc>
              <a:spcBef>
                <a:spcPts val="200"/>
              </a:spcBef>
            </a:pPr>
            <a:r>
              <a:rPr lang="en-US" sz="1600" b="1" dirty="0">
                <a:solidFill>
                  <a:srgbClr val="227C9D"/>
                </a:solidFill>
                <a:latin typeface="Times New Roman"/>
              </a:rPr>
              <a:t>Stage 2: Multi-Model Detection Engine</a:t>
            </a:r>
          </a:p>
          <a:p>
            <a:pPr marL="342900" indent="-342900">
              <a:lnSpc>
                <a:spcPct val="150000"/>
              </a:lnSpc>
              <a:buChar char="•"/>
            </a:pPr>
            <a:r>
              <a:rPr lang="en-US" sz="1600" dirty="0">
                <a:solidFill>
                  <a:srgbClr val="000000"/>
                </a:solidFill>
                <a:latin typeface="Times New Roman"/>
              </a:rPr>
              <a:t>YOLOv8 (fine-tuned): Detects faces, license plates, and personal documents with bounding boxes.</a:t>
            </a:r>
          </a:p>
          <a:p>
            <a:pPr marL="342900" indent="-342900">
              <a:lnSpc>
                <a:spcPct val="150000"/>
              </a:lnSpc>
              <a:buChar char="•"/>
            </a:pPr>
            <a:r>
              <a:rPr lang="en-US" sz="1600" dirty="0">
                <a:solidFill>
                  <a:srgbClr val="000000"/>
                </a:solidFill>
                <a:latin typeface="Times New Roman"/>
              </a:rPr>
              <a:t>CRAFT + EasyOCR: Detects and reads scene text including stylized and curved text for PII identification.</a:t>
            </a:r>
          </a:p>
          <a:p>
            <a:pPr marL="342900" indent="-342900">
              <a:lnSpc>
                <a:spcPct val="150000"/>
              </a:lnSpc>
              <a:buChar char="•"/>
            </a:pPr>
            <a:r>
              <a:rPr lang="en-US" sz="1600" dirty="0">
                <a:solidFill>
                  <a:srgbClr val="000000"/>
                </a:solidFill>
                <a:latin typeface="Times New Roman"/>
              </a:rPr>
              <a:t>MTCNN / DeepFace: Secondary face detection for improved recall in complex scenes.</a:t>
            </a:r>
          </a:p>
          <a:p>
            <a:pPr marL="228600" indent="-228600">
              <a:lnSpc>
                <a:spcPct val="150000"/>
              </a:lnSpc>
              <a:spcBef>
                <a:spcPts val="200"/>
              </a:spcBef>
            </a:pPr>
            <a:r>
              <a:rPr lang="en-US" sz="1600" b="1" dirty="0">
                <a:solidFill>
                  <a:srgbClr val="227C9D"/>
                </a:solidFill>
                <a:latin typeface="Times New Roman"/>
              </a:rPr>
              <a:t>Stage 3: Context Analysis</a:t>
            </a:r>
          </a:p>
          <a:p>
            <a:pPr marL="342900" indent="-342900">
              <a:lnSpc>
                <a:spcPct val="150000"/>
              </a:lnSpc>
              <a:buChar char="•"/>
            </a:pPr>
            <a:r>
              <a:rPr lang="en-US" sz="1600" dirty="0">
                <a:solidFill>
                  <a:srgbClr val="000000"/>
                </a:solidFill>
                <a:latin typeface="Times New Roman"/>
              </a:rPr>
              <a:t>Main Subject Check: If face bounding box covers &gt;30% of frame, classify as main subject and exempt from blurring.</a:t>
            </a:r>
          </a:p>
          <a:p>
            <a:pPr marL="342900" indent="-342900">
              <a:lnSpc>
                <a:spcPct val="150000"/>
              </a:lnSpc>
              <a:buChar char="•"/>
            </a:pPr>
            <a:r>
              <a:rPr lang="en-US" sz="1600" dirty="0">
                <a:solidFill>
                  <a:srgbClr val="000000"/>
                </a:solidFill>
                <a:latin typeface="Times New Roman"/>
              </a:rPr>
              <a:t>Confidence Filtering: Ignore low-confidence detections to minimize false positives.</a:t>
            </a:r>
          </a:p>
          <a:p>
            <a:pPr marL="228600" indent="-228600">
              <a:lnSpc>
                <a:spcPct val="150000"/>
              </a:lnSpc>
              <a:spcBef>
                <a:spcPts val="200"/>
              </a:spcBef>
            </a:pPr>
            <a:r>
              <a:rPr lang="en-US" sz="1600" b="1" dirty="0">
                <a:solidFill>
                  <a:srgbClr val="227C9D"/>
                </a:solidFill>
                <a:latin typeface="Times New Roman"/>
              </a:rPr>
              <a:t>Stage 4: Anonymization Layer</a:t>
            </a:r>
          </a:p>
          <a:p>
            <a:pPr marL="342900" indent="-342900">
              <a:lnSpc>
                <a:spcPct val="150000"/>
              </a:lnSpc>
              <a:buChar char="•"/>
            </a:pPr>
            <a:r>
              <a:rPr lang="en-US" sz="1600" dirty="0">
                <a:solidFill>
                  <a:srgbClr val="000000"/>
                </a:solidFill>
                <a:latin typeface="Times New Roman"/>
              </a:rPr>
              <a:t>Apply user-selected anonymization: Gaussian blur, pixelation, emoji overlay, or generative face inpainting (GAN/Diffusion-based).</a:t>
            </a:r>
          </a:p>
          <a:p>
            <a:pPr marL="228600" indent="-228600">
              <a:lnSpc>
                <a:spcPct val="150000"/>
              </a:lnSpc>
              <a:spcBef>
                <a:spcPts val="200"/>
              </a:spcBef>
            </a:pPr>
            <a:r>
              <a:rPr lang="en-US" sz="1600" b="1" dirty="0">
                <a:solidFill>
                  <a:srgbClr val="227C9D"/>
                </a:solidFill>
                <a:latin typeface="Times New Roman"/>
              </a:rPr>
              <a:t>Stage 5: Privacy Risk Scoring</a:t>
            </a:r>
          </a:p>
          <a:p>
            <a:pPr marL="342900" indent="-342900">
              <a:lnSpc>
                <a:spcPct val="150000"/>
              </a:lnSpc>
              <a:buChar char="•"/>
            </a:pPr>
            <a:r>
              <a:rPr lang="en-US" sz="1600" dirty="0">
                <a:solidFill>
                  <a:srgbClr val="000000"/>
                </a:solidFill>
                <a:latin typeface="Times New Roman"/>
              </a:rPr>
              <a:t>Compute Privacy Risk Score (0-100) based on count, type, and visibility of sensitive regions.</a:t>
            </a:r>
          </a:p>
          <a:p>
            <a:pPr marL="228600" indent="-228600">
              <a:lnSpc>
                <a:spcPct val="150000"/>
              </a:lnSpc>
              <a:spcBef>
                <a:spcPts val="200"/>
              </a:spcBef>
            </a:pPr>
            <a:r>
              <a:rPr lang="en-US" sz="1600" b="1" dirty="0">
                <a:solidFill>
                  <a:srgbClr val="227C9D"/>
                </a:solidFill>
                <a:latin typeface="Times New Roman"/>
              </a:rPr>
              <a:t>Stage 6: Output</a:t>
            </a:r>
          </a:p>
          <a:p>
            <a:pPr marL="342900" indent="-342900">
              <a:lnSpc>
                <a:spcPct val="150000"/>
              </a:lnSpc>
              <a:buChar char="•"/>
            </a:pPr>
            <a:r>
              <a:rPr lang="en-US" sz="1600" dirty="0">
                <a:solidFill>
                  <a:srgbClr val="000000"/>
                </a:solidFill>
                <a:latin typeface="Times New Roman"/>
              </a:rPr>
              <a:t>Return anonymized image with Explainable Highlight Mode (labeled bounding boxes) and before/after comparison view.</a:t>
            </a:r>
          </a:p>
        </p:txBody>
      </p:sp>
    </p:spTree>
    <p:extLst>
      <p:ext uri="{BB962C8B-B14F-4D97-AF65-F5344CB8AC3E}">
        <p14:creationId xmlns:p14="http://schemas.microsoft.com/office/powerpoint/2010/main" val="2941083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5AEF5-DCA3-F295-7BD3-AABEAEAE8BF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1BAAE7A-87C3-DB8B-66DD-774E07192A00}"/>
              </a:ext>
            </a:extLst>
          </p:cNvPr>
          <p:cNvSpPr txBox="1"/>
          <p:nvPr/>
        </p:nvSpPr>
        <p:spPr>
          <a:xfrm>
            <a:off x="2270551" y="280256"/>
            <a:ext cx="8101780" cy="707886"/>
          </a:xfrm>
          <a:prstGeom prst="rect">
            <a:avLst/>
          </a:prstGeom>
        </p:spPr>
        <p:txBody>
          <a:bodyPr lIns="0" tIns="0" rIns="0" bIns="0" rtlCol="0" anchor="t">
            <a:spAutoFit/>
          </a:bodyPr>
          <a:lstStyle>
            <a:defPPr>
              <a:defRPr lang="en-US"/>
            </a:defPPr>
            <a:lvl1pPr algn="ctr">
              <a:lnSpc>
                <a:spcPts val="5189"/>
              </a:lnSpc>
              <a:defRPr sz="5189" b="1">
                <a:solidFill>
                  <a:srgbClr val="227C9D"/>
                </a:solidFill>
                <a:latin typeface="Times New Roman Bold"/>
                <a:ea typeface="Times New Roman Bold"/>
                <a:cs typeface="Times New Roman Bold"/>
              </a:defRPr>
            </a:lvl1pPr>
          </a:lstStyle>
          <a:p>
            <a:r>
              <a:rPr lang="en-IN" dirty="0"/>
              <a:t>Proposed Methodology</a:t>
            </a:r>
          </a:p>
        </p:txBody>
      </p:sp>
      <p:pic>
        <p:nvPicPr>
          <p:cNvPr id="7" name="Picture 6">
            <a:extLst>
              <a:ext uri="{FF2B5EF4-FFF2-40B4-BE49-F238E27FC236}">
                <a16:creationId xmlns:a16="http://schemas.microsoft.com/office/drawing/2014/main" id="{C6AB8FE9-D46F-4CC0-7BFB-031D2E438A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0734" y="927237"/>
            <a:ext cx="10922729" cy="5772235"/>
          </a:xfrm>
          <a:prstGeom prst="rect">
            <a:avLst/>
          </a:prstGeom>
        </p:spPr>
      </p:pic>
      <p:sp>
        <p:nvSpPr>
          <p:cNvPr id="3" name="Freeform 4">
            <a:extLst>
              <a:ext uri="{FF2B5EF4-FFF2-40B4-BE49-F238E27FC236}">
                <a16:creationId xmlns:a16="http://schemas.microsoft.com/office/drawing/2014/main" id="{50D95E26-DAAA-7DCB-342A-DD41AE9DEAB1}"/>
              </a:ext>
            </a:extLst>
          </p:cNvPr>
          <p:cNvSpPr/>
          <p:nvPr/>
        </p:nvSpPr>
        <p:spPr>
          <a:xfrm>
            <a:off x="10585050" y="280256"/>
            <a:ext cx="1334118" cy="953261"/>
          </a:xfrm>
          <a:custGeom>
            <a:avLst/>
            <a:gdLst/>
            <a:ahLst/>
            <a:cxnLst/>
            <a:rect l="l" t="t" r="r" b="b"/>
            <a:pathLst>
              <a:path w="17987676" h="1976792">
                <a:moveTo>
                  <a:pt x="0" y="0"/>
                </a:moveTo>
                <a:lnTo>
                  <a:pt x="17987676" y="0"/>
                </a:lnTo>
                <a:lnTo>
                  <a:pt x="17987676" y="1976792"/>
                </a:lnTo>
                <a:lnTo>
                  <a:pt x="0" y="1976792"/>
                </a:lnTo>
                <a:lnTo>
                  <a:pt x="0" y="0"/>
                </a:lnTo>
                <a:close/>
              </a:path>
            </a:pathLst>
          </a:custGeom>
          <a:blipFill>
            <a:blip r:embed="rId3"/>
            <a:stretch>
              <a:fillRect l="-636332" t="-3636" b="-15051"/>
            </a:stretch>
          </a:blipFill>
        </p:spPr>
        <p:txBody>
          <a:bodyPr/>
          <a:lstStyle/>
          <a:p>
            <a:endParaRPr lang="en-IN" dirty="0"/>
          </a:p>
        </p:txBody>
      </p:sp>
    </p:spTree>
    <p:extLst>
      <p:ext uri="{BB962C8B-B14F-4D97-AF65-F5344CB8AC3E}">
        <p14:creationId xmlns:p14="http://schemas.microsoft.com/office/powerpoint/2010/main" val="1416237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reeform 4">
            <a:extLst>
              <a:ext uri="{FF2B5EF4-FFF2-40B4-BE49-F238E27FC236}">
                <a16:creationId xmlns:a16="http://schemas.microsoft.com/office/drawing/2014/main" id="{9DCDCBEB-3839-04E5-EA40-D68BA0F0EBED}"/>
              </a:ext>
            </a:extLst>
          </p:cNvPr>
          <p:cNvSpPr/>
          <p:nvPr/>
        </p:nvSpPr>
        <p:spPr>
          <a:xfrm>
            <a:off x="10816060" y="5892052"/>
            <a:ext cx="1334118" cy="953261"/>
          </a:xfrm>
          <a:custGeom>
            <a:avLst/>
            <a:gdLst/>
            <a:ahLst/>
            <a:cxnLst/>
            <a:rect l="l" t="t" r="r" b="b"/>
            <a:pathLst>
              <a:path w="17987676" h="1976792">
                <a:moveTo>
                  <a:pt x="0" y="0"/>
                </a:moveTo>
                <a:lnTo>
                  <a:pt x="17987676" y="0"/>
                </a:lnTo>
                <a:lnTo>
                  <a:pt x="17987676" y="1976792"/>
                </a:lnTo>
                <a:lnTo>
                  <a:pt x="0" y="1976792"/>
                </a:lnTo>
                <a:lnTo>
                  <a:pt x="0" y="0"/>
                </a:lnTo>
                <a:close/>
              </a:path>
            </a:pathLst>
          </a:custGeom>
          <a:blipFill>
            <a:blip r:embed="rId2"/>
            <a:stretch>
              <a:fillRect l="-636332" t="-3636" b="-15051"/>
            </a:stretch>
          </a:blipFill>
        </p:spPr>
      </p:sp>
      <p:sp>
        <p:nvSpPr>
          <p:cNvPr id="5" name="TextBox 4">
            <a:extLst>
              <a:ext uri="{FF2B5EF4-FFF2-40B4-BE49-F238E27FC236}">
                <a16:creationId xmlns:a16="http://schemas.microsoft.com/office/drawing/2014/main" id="{D3BDE2D8-6201-4EA6-14B7-FCC5FF2ED10F}"/>
              </a:ext>
            </a:extLst>
          </p:cNvPr>
          <p:cNvSpPr txBox="1"/>
          <p:nvPr/>
        </p:nvSpPr>
        <p:spPr>
          <a:xfrm>
            <a:off x="1671484" y="280256"/>
            <a:ext cx="9085006" cy="666849"/>
          </a:xfrm>
          <a:prstGeom prst="rect">
            <a:avLst/>
          </a:prstGeom>
        </p:spPr>
        <p:txBody>
          <a:bodyPr wrap="square" lIns="0" tIns="0" rIns="0" bIns="0" rtlCol="0" anchor="t">
            <a:spAutoFit/>
          </a:bodyPr>
          <a:lstStyle>
            <a:defPPr>
              <a:defRPr lang="en-US"/>
            </a:defPPr>
            <a:lvl1pPr algn="ctr">
              <a:lnSpc>
                <a:spcPts val="5189"/>
              </a:lnSpc>
              <a:defRPr sz="5189" b="1">
                <a:solidFill>
                  <a:srgbClr val="227C9D"/>
                </a:solidFill>
                <a:latin typeface="Times New Roman Bold"/>
                <a:ea typeface="Times New Roman Bold"/>
                <a:cs typeface="Times New Roman Bold"/>
              </a:defRPr>
            </a:lvl1pPr>
          </a:lstStyle>
          <a:p>
            <a:r>
              <a:rPr lang="en-IN" dirty="0"/>
              <a:t>References</a:t>
            </a:r>
          </a:p>
        </p:txBody>
      </p:sp>
      <p:sp>
        <p:nvSpPr>
          <p:cNvPr id="99" name="References Box"/>
          <p:cNvSpPr txBox="1"/>
          <p:nvPr/>
        </p:nvSpPr>
        <p:spPr>
          <a:xfrm>
            <a:off x="206478" y="1200000"/>
            <a:ext cx="11729883" cy="5218736"/>
          </a:xfrm>
          <a:prstGeom prst="rect">
            <a:avLst/>
          </a:prstGeom>
          <a:noFill/>
        </p:spPr>
        <p:txBody>
          <a:bodyPr wrap="square" rtlCol="0">
            <a:spAutoFit/>
          </a:bodyPr>
          <a:lstStyle/>
          <a:p>
            <a:pPr>
              <a:lnSpc>
                <a:spcPct val="150000"/>
              </a:lnSpc>
            </a:pPr>
            <a:r>
              <a:rPr lang="en-IN" sz="1600" dirty="0">
                <a:latin typeface="Times New Roman" panose="02020603050405020304" pitchFamily="18" charset="0"/>
                <a:cs typeface="Times New Roman" panose="02020603050405020304" pitchFamily="18" charset="0"/>
              </a:rPr>
              <a:t>[1] M. Maximov et al., &amp;quot;CIAGAN: Conditional Identity Anonymization Generative Adversarial Networks,&amp;quot; IEEE CVPR, 2020.</a:t>
            </a:r>
          </a:p>
          <a:p>
            <a:pPr>
              <a:lnSpc>
                <a:spcPct val="150000"/>
              </a:lnSpc>
            </a:pPr>
            <a:r>
              <a:rPr lang="en-IN" sz="1600" dirty="0">
                <a:latin typeface="Times New Roman" panose="02020603050405020304" pitchFamily="18" charset="0"/>
                <a:cs typeface="Times New Roman" panose="02020603050405020304" pitchFamily="18" charset="0"/>
              </a:rPr>
              <a:t>[2] A. Dosovitskiy et al., &amp;quot;An Image is Worth 16x16 Words: Transformers for Image Recognition at Scale (ViT),&amp;quot; ICLR, 2021.</a:t>
            </a:r>
          </a:p>
          <a:p>
            <a:pPr>
              <a:lnSpc>
                <a:spcPct val="150000"/>
              </a:lnSpc>
            </a:pPr>
            <a:r>
              <a:rPr lang="en-IN" sz="1600" dirty="0">
                <a:latin typeface="Times New Roman" panose="02020603050405020304" pitchFamily="18" charset="0"/>
                <a:cs typeface="Times New Roman" panose="02020603050405020304" pitchFamily="18" charset="0"/>
              </a:rPr>
              <a:t>[3] D. Qi et al., &amp;quot;YOLO5Face: Why Reinventing a Face Detector,&amp;quot; arXiv/IEEE, 2021.</a:t>
            </a:r>
          </a:p>
          <a:p>
            <a:pPr>
              <a:lnSpc>
                <a:spcPct val="150000"/>
              </a:lnSpc>
            </a:pPr>
            <a:r>
              <a:rPr lang="en-IN" sz="1600" dirty="0">
                <a:latin typeface="Times New Roman" panose="02020603050405020304" pitchFamily="18" charset="0"/>
                <a:cs typeface="Times New Roman" panose="02020603050405020304" pitchFamily="18" charset="0"/>
              </a:rPr>
              <a:t>[4] D. Ibdah et al., &amp;quot;Why Should I Read the Privacy Policy, I Just Need the Service,&amp;quot; IEEE Access, 2021. https://ieeexplore.ieee.org/document/9624976</a:t>
            </a:r>
          </a:p>
          <a:p>
            <a:pPr>
              <a:lnSpc>
                <a:spcPct val="150000"/>
              </a:lnSpc>
            </a:pPr>
            <a:r>
              <a:rPr lang="en-IN" sz="1600" dirty="0">
                <a:latin typeface="Times New Roman" panose="02020603050405020304" pitchFamily="18" charset="0"/>
                <a:cs typeface="Times New Roman" panose="02020603050405020304" pitchFamily="18" charset="0"/>
              </a:rPr>
              <a:t>[5] S. Minaee et al., &amp;quot;Image Segmentation Using Deep Learning: A Survey,&amp;quot; IEEE TPAMI, 2022.</a:t>
            </a:r>
          </a:p>
          <a:p>
            <a:pPr>
              <a:lnSpc>
                <a:spcPct val="150000"/>
              </a:lnSpc>
            </a:pPr>
            <a:r>
              <a:rPr lang="en-IN" sz="1600" dirty="0">
                <a:latin typeface="Times New Roman" panose="02020603050405020304" pitchFamily="18" charset="0"/>
                <a:cs typeface="Times New Roman" panose="02020603050405020304" pitchFamily="18" charset="0"/>
              </a:rPr>
              <a:t>[6] H. Hukkelås &amp; F. Lindseth, &amp;quot;DeepPrivacy2: Towards Realistic Full-Body Anonymization,&amp;quot; IEEE WACV, 2023. https://ieeexplore.ieee.org/document/10030568/</a:t>
            </a:r>
          </a:p>
          <a:p>
            <a:pPr>
              <a:lnSpc>
                <a:spcPct val="150000"/>
              </a:lnSpc>
            </a:pPr>
            <a:r>
              <a:rPr lang="en-IN" sz="1600" dirty="0">
                <a:latin typeface="Times New Roman" panose="02020603050405020304" pitchFamily="18" charset="0"/>
                <a:cs typeface="Times New Roman" panose="02020603050405020304" pitchFamily="18" charset="0"/>
              </a:rPr>
              <a:t>[7] G. Jocher et al., &amp;quot;Ultralytics YOLOv8: Real-Time Object Detection, Segmentation and Classification,&amp;quot; Ultralytics, 2023. https://github.com/ultralytics/ultralytics</a:t>
            </a:r>
          </a:p>
          <a:p>
            <a:pPr>
              <a:lnSpc>
                <a:spcPct val="150000"/>
              </a:lnSpc>
            </a:pPr>
            <a:r>
              <a:rPr lang="en-IN" sz="1600" dirty="0">
                <a:latin typeface="Times New Roman" panose="02020603050405020304" pitchFamily="18" charset="0"/>
                <a:cs typeface="Times New Roman" panose="02020603050405020304" pitchFamily="18" charset="0"/>
              </a:rPr>
              <a:t>[8] O. Kupyn et al., &amp;quot;Privacy-Preserving Face Recognition Using Differential Privacy,&amp;quot; IEEE ICCV, 2023.</a:t>
            </a:r>
          </a:p>
          <a:p>
            <a:pPr>
              <a:lnSpc>
                <a:spcPct val="150000"/>
              </a:lnSpc>
            </a:pPr>
            <a:r>
              <a:rPr lang="en-IN" sz="1600" dirty="0">
                <a:latin typeface="Times New Roman" panose="02020603050405020304" pitchFamily="18" charset="0"/>
                <a:cs typeface="Times New Roman" panose="02020603050405020304" pitchFamily="18" charset="0"/>
              </a:rPr>
              <a:t>[9] H. Yang et al., &amp;quot;G2Face: High-Fidelity Reversible Face Anonymization via Generative and Geometric Priors,&amp;quot; IEEE Trans. IFS, 2024.</a:t>
            </a:r>
          </a:p>
          <a:p>
            <a:pPr>
              <a:lnSpc>
                <a:spcPct val="150000"/>
              </a:lnSpc>
            </a:pPr>
            <a:r>
              <a:rPr lang="en-IN" sz="1600" dirty="0">
                <a:latin typeface="Times New Roman" panose="02020603050405020304" pitchFamily="18" charset="0"/>
                <a:cs typeface="Times New Roman" panose="02020603050405020304" pitchFamily="18" charset="0"/>
              </a:rPr>
              <a:t>[10] H. Kung et al., &amp;quot;Face Anonymization Made Simple,&amp;quot; IEEE WACV, 2025.</a:t>
            </a:r>
          </a:p>
        </p:txBody>
      </p:sp>
    </p:spTree>
    <p:extLst>
      <p:ext uri="{BB962C8B-B14F-4D97-AF65-F5344CB8AC3E}">
        <p14:creationId xmlns:p14="http://schemas.microsoft.com/office/powerpoint/2010/main" val="11812432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1861</Words>
  <Application>Microsoft Office PowerPoint</Application>
  <PresentationFormat>Widescreen</PresentationFormat>
  <Paragraphs>185</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Calibri</vt:lpstr>
      <vt:lpstr>Calibri Light</vt:lpstr>
      <vt:lpstr>DM Sans</vt:lpstr>
      <vt:lpstr>DM Sans Bold</vt:lpstr>
      <vt:lpstr>Times New Roman</vt:lpstr>
      <vt:lpstr>Times New Roman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Harshith Kashyap</dc:creator>
  <cp:lastModifiedBy>Darshan Shekar</cp:lastModifiedBy>
  <cp:revision>16</cp:revision>
  <dcterms:created xsi:type="dcterms:W3CDTF">2025-09-09T14:35:07Z</dcterms:created>
  <dcterms:modified xsi:type="dcterms:W3CDTF">2026-05-06T08:23:25Z</dcterms:modified>
</cp:coreProperties>
</file>